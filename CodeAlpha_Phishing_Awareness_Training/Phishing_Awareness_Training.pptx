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7548" autoAdjust="0"/>
    <p:restoredTop sz="94660"/>
  </p:normalViewPr>
  <p:slideViewPr>
    <p:cSldViewPr>
      <p:cViewPr varScale="1">
        <p:scale>
          <a:sx n="48" d="100"/>
          <a:sy n="48" d="100"/>
        </p:scale>
        <p:origin x="-1140" y="-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50" b="0" i="0">
                <a:solidFill>
                  <a:srgbClr val="34507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0" i="0">
                <a:solidFill>
                  <a:srgbClr val="34507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0" i="0">
                <a:solidFill>
                  <a:srgbClr val="34507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0" i="0">
                <a:solidFill>
                  <a:srgbClr val="34507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9817" y="483305"/>
            <a:ext cx="15481108" cy="2164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50" b="0" i="0">
                <a:solidFill>
                  <a:srgbClr val="34507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8096" y="4555654"/>
            <a:ext cx="15728315" cy="405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jp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jp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jp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jpg"/><Relationship Id="rId7" Type="http://schemas.openxmlformats.org/officeDocument/2006/relationships/image" Target="../media/image36.jpg"/><Relationship Id="rId12" Type="http://schemas.openxmlformats.org/officeDocument/2006/relationships/image" Target="../media/image41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jpg"/><Relationship Id="rId10" Type="http://schemas.openxmlformats.org/officeDocument/2006/relationships/image" Target="../media/image39.png"/><Relationship Id="rId4" Type="http://schemas.openxmlformats.org/officeDocument/2006/relationships/image" Target="../media/image33.jpg"/><Relationship Id="rId9" Type="http://schemas.openxmlformats.org/officeDocument/2006/relationships/image" Target="../media/image38.jpg"/><Relationship Id="rId14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ecure-login-portal.biz/asdIjk123/" TargetMode="External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mailto:phishing@company.com" TargetMode="External"/><Relationship Id="rId3" Type="http://schemas.openxmlformats.org/officeDocument/2006/relationships/image" Target="../media/image53.jpg"/><Relationship Id="rId7" Type="http://schemas.openxmlformats.org/officeDocument/2006/relationships/image" Target="../media/image57.jp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ations@files-store-services.com" TargetMode="External"/><Relationship Id="rId4" Type="http://schemas.openxmlformats.org/officeDocument/2006/relationships/image" Target="../media/image6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helpdesk@company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0200" y="2324100"/>
            <a:ext cx="4114800" cy="4940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9817" y="483305"/>
            <a:ext cx="15481108" cy="1295562"/>
          </a:xfrm>
          <a:prstGeom prst="rect">
            <a:avLst/>
          </a:prstGeom>
        </p:spPr>
        <p:txBody>
          <a:bodyPr vert="horz" wrap="square" lIns="0" tIns="297321" rIns="0" bIns="0" rtlCol="0">
            <a:spAutoFit/>
          </a:bodyPr>
          <a:lstStyle/>
          <a:p>
            <a:pPr marL="35560" marR="5080" indent="20955" algn="ctr">
              <a:lnSpc>
                <a:spcPct val="88100"/>
              </a:lnSpc>
              <a:spcBef>
                <a:spcPts val="1030"/>
              </a:spcBef>
            </a:pPr>
            <a:r>
              <a:rPr lang="en-US" sz="7350" spc="-350" dirty="0">
                <a:solidFill>
                  <a:srgbClr val="2D4970"/>
                </a:solidFill>
                <a:latin typeface="Arial MT"/>
                <a:cs typeface="Arial MT"/>
              </a:rPr>
              <a:t>Phishing </a:t>
            </a:r>
            <a:r>
              <a:rPr lang="en-US" sz="7350" spc="-350" dirty="0" smtClean="0">
                <a:solidFill>
                  <a:srgbClr val="2D4970"/>
                </a:solidFill>
                <a:latin typeface="Arial MT"/>
                <a:cs typeface="Arial MT"/>
              </a:rPr>
              <a:t>Awareness</a:t>
            </a:r>
            <a:endParaRPr sz="7350" spc="-350" dirty="0">
              <a:solidFill>
                <a:srgbClr val="2D4970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49845" y="7624233"/>
            <a:ext cx="7743825" cy="50718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3420"/>
              </a:spcBef>
            </a:pPr>
            <a:r>
              <a:rPr lang="en-US" sz="3200" dirty="0" smtClean="0"/>
              <a:t>Prepared by: </a:t>
            </a:r>
            <a:r>
              <a:rPr lang="en-US" sz="3200" i="1" dirty="0" err="1" smtClean="0"/>
              <a:t>Shweta</a:t>
            </a:r>
            <a:r>
              <a:rPr lang="en-US" sz="3200" i="1" dirty="0" smtClean="0"/>
              <a:t> Sanjay </a:t>
            </a:r>
            <a:r>
              <a:rPr lang="en-US" sz="3200" i="1" dirty="0" err="1" smtClean="0"/>
              <a:t>Jathar</a:t>
            </a:r>
            <a:endParaRPr sz="3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20300" y="2451100"/>
            <a:ext cx="5359400" cy="5803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93600" y="1206500"/>
            <a:ext cx="939800" cy="9779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26802" y="2075391"/>
            <a:ext cx="6826884" cy="112742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35560" marR="5080" indent="20955">
              <a:lnSpc>
                <a:spcPct val="88100"/>
              </a:lnSpc>
              <a:spcBef>
                <a:spcPts val="1030"/>
              </a:spcBef>
            </a:pPr>
            <a:r>
              <a:rPr lang="en-US" sz="7350" spc="-350" dirty="0">
                <a:solidFill>
                  <a:srgbClr val="2D4970"/>
                </a:solidFill>
                <a:latin typeface="Arial MT"/>
                <a:cs typeface="Arial MT"/>
              </a:rPr>
              <a:t>What is Phishing?</a:t>
            </a:r>
            <a:endParaRPr sz="7350" spc="-350" dirty="0">
              <a:solidFill>
                <a:srgbClr val="2D4970"/>
              </a:solidFill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6600" y="3429000"/>
            <a:ext cx="8382000" cy="49366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3200" dirty="0" smtClean="0"/>
              <a:t>Phishing is a type of </a:t>
            </a:r>
            <a:r>
              <a:rPr lang="en-US" sz="3200" b="1" dirty="0" smtClean="0"/>
              <a:t>cyber attack</a:t>
            </a:r>
            <a:r>
              <a:rPr lang="en-US" sz="3200" dirty="0" smtClean="0"/>
              <a:t> where attackers trick users into revealing sensitive information such as: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Passwords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OTPs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Bank details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/>
              <a:t>Credit/Debit card information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3200" dirty="0" smtClean="0"/>
          </a:p>
          <a:p>
            <a:r>
              <a:rPr lang="en-US" sz="3200" dirty="0" smtClean="0"/>
              <a:t>Attackers pretend to be trusted organizations like banks, companies, or government bodies.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64700" y="6972300"/>
            <a:ext cx="1231900" cy="1231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06200" y="6972300"/>
            <a:ext cx="1231900" cy="1231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47700" y="6972300"/>
            <a:ext cx="1231900" cy="1231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01900" y="6972300"/>
            <a:ext cx="1219200" cy="1231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64700" y="5181600"/>
            <a:ext cx="1231900" cy="1231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64700" y="3416300"/>
            <a:ext cx="1231900" cy="12192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201900" y="5181600"/>
            <a:ext cx="1219200" cy="12319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201900" y="3416300"/>
            <a:ext cx="1219200" cy="12192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664700" y="1549400"/>
            <a:ext cx="1219200" cy="12319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506200" y="1549400"/>
            <a:ext cx="1231900" cy="12319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360400" y="1549400"/>
            <a:ext cx="1219200" cy="12319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201900" y="1549400"/>
            <a:ext cx="1219200" cy="1231900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1772900" y="4861983"/>
            <a:ext cx="423545" cy="0"/>
          </a:xfrm>
          <a:custGeom>
            <a:avLst/>
            <a:gdLst/>
            <a:ahLst/>
            <a:cxnLst/>
            <a:rect l="l" t="t" r="r" b="b"/>
            <a:pathLst>
              <a:path w="423545">
                <a:moveTo>
                  <a:pt x="0" y="0"/>
                </a:moveTo>
                <a:lnTo>
                  <a:pt x="423333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13538200" y="4787900"/>
            <a:ext cx="639445" cy="292100"/>
            <a:chOff x="13538200" y="4787900"/>
            <a:chExt cx="639445" cy="292100"/>
          </a:xfrm>
        </p:grpSpPr>
        <p:sp>
          <p:nvSpPr>
            <p:cNvPr id="16" name="object 16"/>
            <p:cNvSpPr/>
            <p:nvPr/>
          </p:nvSpPr>
          <p:spPr>
            <a:xfrm>
              <a:off x="13703300" y="4861983"/>
              <a:ext cx="474345" cy="0"/>
            </a:xfrm>
            <a:custGeom>
              <a:avLst/>
              <a:gdLst/>
              <a:ahLst/>
              <a:cxnLst/>
              <a:rect l="l" t="t" r="r" b="b"/>
              <a:pathLst>
                <a:path w="474344">
                  <a:moveTo>
                    <a:pt x="0" y="0"/>
                  </a:moveTo>
                  <a:lnTo>
                    <a:pt x="474133" y="0"/>
                  </a:lnTo>
                </a:path>
              </a:pathLst>
            </a:custGeom>
            <a:ln w="42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538200" y="4787900"/>
              <a:ext cx="215900" cy="292100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1988800" y="4102100"/>
            <a:ext cx="1993900" cy="685800"/>
            <a:chOff x="11988800" y="4102100"/>
            <a:chExt cx="1993900" cy="685800"/>
          </a:xfrm>
        </p:grpSpPr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988800" y="4457700"/>
              <a:ext cx="101600" cy="330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077700" y="4102100"/>
              <a:ext cx="1905000" cy="50800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12014200" y="4559300"/>
            <a:ext cx="2044700" cy="1143000"/>
            <a:chOff x="12014200" y="4559300"/>
            <a:chExt cx="2044700" cy="1143000"/>
          </a:xfrm>
        </p:grpSpPr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192000" y="5499100"/>
              <a:ext cx="215900" cy="203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014200" y="4787900"/>
              <a:ext cx="2032000" cy="8001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801600" y="4559300"/>
              <a:ext cx="444500" cy="3937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538200" y="4787900"/>
              <a:ext cx="215900" cy="2921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766800" y="4572000"/>
              <a:ext cx="76200" cy="2159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982700" y="4559300"/>
              <a:ext cx="76200" cy="2286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204700" y="4572000"/>
              <a:ext cx="76200" cy="215900"/>
            </a:xfrm>
            <a:prstGeom prst="rect">
              <a:avLst/>
            </a:prstGeom>
          </p:spPr>
        </p:pic>
      </p:grp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1076753" y="1592438"/>
            <a:ext cx="7004684" cy="1147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350" spc="-705" dirty="0">
                <a:solidFill>
                  <a:srgbClr val="314972"/>
                </a:solidFill>
                <a:latin typeface="Arial MT"/>
                <a:cs typeface="Arial MT"/>
              </a:rPr>
              <a:t>You</a:t>
            </a:r>
            <a:r>
              <a:rPr sz="7350" spc="-400" dirty="0">
                <a:solidFill>
                  <a:srgbClr val="314972"/>
                </a:solidFill>
                <a:latin typeface="Arial MT"/>
                <a:cs typeface="Arial MT"/>
              </a:rPr>
              <a:t> </a:t>
            </a:r>
            <a:r>
              <a:rPr sz="7350" spc="-350" dirty="0">
                <a:solidFill>
                  <a:srgbClr val="2D4970"/>
                </a:solidFill>
                <a:latin typeface="Arial MT"/>
                <a:cs typeface="Arial MT"/>
              </a:rPr>
              <a:t>Are</a:t>
            </a:r>
            <a:r>
              <a:rPr sz="7350" spc="-490" dirty="0">
                <a:solidFill>
                  <a:srgbClr val="2D4970"/>
                </a:solidFill>
                <a:latin typeface="Arial MT"/>
                <a:cs typeface="Arial MT"/>
              </a:rPr>
              <a:t> </a:t>
            </a:r>
            <a:r>
              <a:rPr sz="7350" spc="-145" dirty="0">
                <a:solidFill>
                  <a:srgbClr val="314D75"/>
                </a:solidFill>
                <a:latin typeface="Arial MT"/>
                <a:cs typeface="Arial MT"/>
              </a:rPr>
              <a:t>the</a:t>
            </a:r>
            <a:r>
              <a:rPr sz="7350" spc="-395" dirty="0">
                <a:solidFill>
                  <a:srgbClr val="314D75"/>
                </a:solidFill>
                <a:latin typeface="Arial MT"/>
                <a:cs typeface="Arial MT"/>
              </a:rPr>
              <a:t> </a:t>
            </a:r>
            <a:r>
              <a:rPr sz="7350" spc="-409" dirty="0">
                <a:solidFill>
                  <a:srgbClr val="314D75"/>
                </a:solidFill>
                <a:latin typeface="Arial MT"/>
                <a:cs typeface="Arial MT"/>
              </a:rPr>
              <a:t>Target</a:t>
            </a:r>
            <a:endParaRPr sz="7350" dirty="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44632" y="3072694"/>
            <a:ext cx="7783830" cy="50812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0955" marR="358775" indent="-8890">
              <a:lnSpc>
                <a:spcPct val="100499"/>
              </a:lnSpc>
              <a:spcBef>
                <a:spcPts val="85"/>
              </a:spcBef>
              <a:tabLst>
                <a:tab pos="2222500" algn="l"/>
              </a:tabLst>
            </a:pPr>
            <a:r>
              <a:rPr sz="3050" spc="-75" dirty="0">
                <a:latin typeface="Cambria"/>
                <a:cs typeface="Cambria"/>
              </a:rPr>
              <a:t>Modern</a:t>
            </a:r>
            <a:r>
              <a:rPr sz="3050" spc="-80" dirty="0">
                <a:latin typeface="Cambria"/>
                <a:cs typeface="Cambria"/>
              </a:rPr>
              <a:t> </a:t>
            </a:r>
            <a:r>
              <a:rPr sz="3050" spc="-110" dirty="0">
                <a:latin typeface="Cambria"/>
                <a:cs typeface="Cambria"/>
              </a:rPr>
              <a:t>attackers</a:t>
            </a:r>
            <a:r>
              <a:rPr sz="3050" spc="5" dirty="0">
                <a:latin typeface="Cambria"/>
                <a:cs typeface="Cambria"/>
              </a:rPr>
              <a:t> </a:t>
            </a:r>
            <a:r>
              <a:rPr sz="3050" spc="-175" dirty="0">
                <a:latin typeface="Cambria"/>
                <a:cs typeface="Cambria"/>
              </a:rPr>
              <a:t>don't</a:t>
            </a:r>
            <a:r>
              <a:rPr sz="3050" spc="-85" dirty="0">
                <a:latin typeface="Cambria"/>
                <a:cs typeface="Cambria"/>
              </a:rPr>
              <a:t> </a:t>
            </a:r>
            <a:r>
              <a:rPr sz="3050" spc="-55" dirty="0">
                <a:latin typeface="Cambria"/>
                <a:cs typeface="Cambria"/>
              </a:rPr>
              <a:t>just</a:t>
            </a:r>
            <a:r>
              <a:rPr sz="3050" spc="-105" dirty="0">
                <a:latin typeface="Cambria"/>
                <a:cs typeface="Cambria"/>
              </a:rPr>
              <a:t> </a:t>
            </a:r>
            <a:r>
              <a:rPr sz="3050" spc="-70" dirty="0">
                <a:latin typeface="Cambria"/>
                <a:cs typeface="Cambria"/>
              </a:rPr>
              <a:t>send</a:t>
            </a:r>
            <a:r>
              <a:rPr sz="3050" spc="-85" dirty="0">
                <a:latin typeface="Cambria"/>
                <a:cs typeface="Cambria"/>
              </a:rPr>
              <a:t> </a:t>
            </a:r>
            <a:r>
              <a:rPr sz="3050" spc="-100" dirty="0">
                <a:latin typeface="Cambria"/>
                <a:cs typeface="Cambria"/>
              </a:rPr>
              <a:t>random</a:t>
            </a:r>
            <a:r>
              <a:rPr sz="3050" dirty="0">
                <a:latin typeface="Cambria"/>
                <a:cs typeface="Cambria"/>
              </a:rPr>
              <a:t> </a:t>
            </a:r>
            <a:r>
              <a:rPr sz="3050" spc="-30" dirty="0">
                <a:latin typeface="Cambria"/>
                <a:cs typeface="Cambria"/>
              </a:rPr>
              <a:t>spam. </a:t>
            </a:r>
            <a:r>
              <a:rPr sz="3050" spc="-85" dirty="0">
                <a:latin typeface="Cambria"/>
                <a:cs typeface="Cambria"/>
              </a:rPr>
              <a:t>They</a:t>
            </a:r>
            <a:r>
              <a:rPr sz="3050" spc="-60" dirty="0">
                <a:latin typeface="Cambria"/>
                <a:cs typeface="Cambria"/>
              </a:rPr>
              <a:t> </a:t>
            </a:r>
            <a:r>
              <a:rPr sz="3050" spc="-120" dirty="0">
                <a:latin typeface="Cambria"/>
                <a:cs typeface="Cambria"/>
              </a:rPr>
              <a:t>use</a:t>
            </a:r>
            <a:r>
              <a:rPr sz="3050" spc="-50" dirty="0">
                <a:latin typeface="Cambria"/>
                <a:cs typeface="Cambria"/>
              </a:rPr>
              <a:t> </a:t>
            </a:r>
            <a:r>
              <a:rPr sz="3050" spc="-80" dirty="0">
                <a:latin typeface="Cambria"/>
                <a:cs typeface="Cambria"/>
              </a:rPr>
              <a:t>sophisticated,</a:t>
            </a:r>
            <a:r>
              <a:rPr sz="3050" spc="-90" dirty="0">
                <a:latin typeface="Cambria"/>
                <a:cs typeface="Cambria"/>
              </a:rPr>
              <a:t> </a:t>
            </a:r>
            <a:r>
              <a:rPr sz="3050" spc="-110" dirty="0">
                <a:latin typeface="Cambria"/>
                <a:cs typeface="Cambria"/>
              </a:rPr>
              <a:t>targeted</a:t>
            </a:r>
            <a:r>
              <a:rPr sz="3050" spc="40" dirty="0">
                <a:latin typeface="Cambria"/>
                <a:cs typeface="Cambria"/>
              </a:rPr>
              <a:t> </a:t>
            </a:r>
            <a:r>
              <a:rPr sz="3050" spc="-114" dirty="0">
                <a:latin typeface="Cambria"/>
                <a:cs typeface="Cambria"/>
              </a:rPr>
              <a:t>attacks</a:t>
            </a:r>
            <a:r>
              <a:rPr sz="3050" spc="-55" dirty="0">
                <a:latin typeface="Cambria"/>
                <a:cs typeface="Cambria"/>
              </a:rPr>
              <a:t> </a:t>
            </a:r>
            <a:r>
              <a:rPr sz="3050" spc="-10" dirty="0">
                <a:latin typeface="Cambria"/>
                <a:cs typeface="Cambria"/>
              </a:rPr>
              <a:t>called </a:t>
            </a:r>
            <a:r>
              <a:rPr sz="3050" spc="-100" dirty="0">
                <a:latin typeface="Cambria"/>
                <a:cs typeface="Cambria"/>
              </a:rPr>
              <a:t>“spear</a:t>
            </a:r>
            <a:r>
              <a:rPr sz="3050" spc="-70" dirty="0">
                <a:latin typeface="Cambria"/>
                <a:cs typeface="Cambria"/>
              </a:rPr>
              <a:t> </a:t>
            </a:r>
            <a:r>
              <a:rPr sz="3050" spc="-75" dirty="0">
                <a:latin typeface="Cambria"/>
                <a:cs typeface="Cambria"/>
              </a:rPr>
              <a:t>phishing.”</a:t>
            </a:r>
            <a:r>
              <a:rPr sz="3050" spc="-95" dirty="0">
                <a:latin typeface="Cambria"/>
                <a:cs typeface="Cambria"/>
              </a:rPr>
              <a:t> They</a:t>
            </a:r>
            <a:r>
              <a:rPr sz="3050" spc="20" dirty="0">
                <a:latin typeface="Cambria"/>
                <a:cs typeface="Cambria"/>
              </a:rPr>
              <a:t> </a:t>
            </a:r>
            <a:r>
              <a:rPr sz="3050" spc="-100" dirty="0">
                <a:latin typeface="Cambria"/>
                <a:cs typeface="Cambria"/>
              </a:rPr>
              <a:t>research</a:t>
            </a:r>
            <a:r>
              <a:rPr sz="3050" spc="-35" dirty="0">
                <a:latin typeface="Cambria"/>
                <a:cs typeface="Cambria"/>
              </a:rPr>
              <a:t> </a:t>
            </a:r>
            <a:r>
              <a:rPr sz="3050" spc="-170" dirty="0">
                <a:latin typeface="Cambria"/>
                <a:cs typeface="Cambria"/>
              </a:rPr>
              <a:t>you</a:t>
            </a:r>
            <a:r>
              <a:rPr sz="3050" spc="-10" dirty="0">
                <a:latin typeface="Cambria"/>
                <a:cs typeface="Cambria"/>
              </a:rPr>
              <a:t> </a:t>
            </a:r>
            <a:r>
              <a:rPr sz="3050" spc="-20" dirty="0">
                <a:latin typeface="Cambria"/>
                <a:cs typeface="Cambria"/>
              </a:rPr>
              <a:t>on</a:t>
            </a:r>
            <a:r>
              <a:rPr sz="3050" spc="-150" dirty="0">
                <a:latin typeface="Cambria"/>
                <a:cs typeface="Cambria"/>
              </a:rPr>
              <a:t> </a:t>
            </a:r>
            <a:r>
              <a:rPr sz="3050" spc="-10" dirty="0">
                <a:latin typeface="Cambria"/>
                <a:cs typeface="Cambria"/>
              </a:rPr>
              <a:t>social </a:t>
            </a:r>
            <a:r>
              <a:rPr sz="2900" dirty="0">
                <a:latin typeface="Cambria"/>
                <a:cs typeface="Cambria"/>
              </a:rPr>
              <a:t>media</a:t>
            </a:r>
            <a:r>
              <a:rPr sz="2900" spc="-70" dirty="0">
                <a:latin typeface="Cambria"/>
                <a:cs typeface="Cambria"/>
              </a:rPr>
              <a:t> </a:t>
            </a:r>
            <a:r>
              <a:rPr sz="2900" dirty="0">
                <a:latin typeface="Cambria"/>
                <a:cs typeface="Cambria"/>
              </a:rPr>
              <a:t>and</a:t>
            </a:r>
            <a:r>
              <a:rPr sz="2900" spc="-155" dirty="0">
                <a:latin typeface="Cambria"/>
                <a:cs typeface="Cambria"/>
              </a:rPr>
              <a:t> </a:t>
            </a:r>
            <a:r>
              <a:rPr sz="2900" dirty="0">
                <a:latin typeface="Cambria"/>
                <a:cs typeface="Cambria"/>
              </a:rPr>
              <a:t>the</a:t>
            </a:r>
            <a:r>
              <a:rPr sz="2900" spc="-160" dirty="0">
                <a:latin typeface="Cambria"/>
                <a:cs typeface="Cambria"/>
              </a:rPr>
              <a:t> </a:t>
            </a:r>
            <a:r>
              <a:rPr sz="2900" dirty="0">
                <a:latin typeface="Cambria"/>
                <a:cs typeface="Cambria"/>
              </a:rPr>
              <a:t>company</a:t>
            </a:r>
            <a:r>
              <a:rPr sz="2900" spc="-75" dirty="0">
                <a:latin typeface="Cambria"/>
                <a:cs typeface="Cambria"/>
              </a:rPr>
              <a:t> </a:t>
            </a:r>
            <a:r>
              <a:rPr sz="2900" spc="-40" dirty="0">
                <a:latin typeface="Cambria"/>
                <a:cs typeface="Cambria"/>
              </a:rPr>
              <a:t>website</a:t>
            </a:r>
            <a:r>
              <a:rPr sz="2900" spc="-5" dirty="0">
                <a:latin typeface="Cambria"/>
                <a:cs typeface="Cambria"/>
              </a:rPr>
              <a:t> </a:t>
            </a:r>
            <a:r>
              <a:rPr sz="2900" spc="-20" dirty="0">
                <a:latin typeface="Cambria"/>
                <a:cs typeface="Cambria"/>
              </a:rPr>
              <a:t>to</a:t>
            </a:r>
            <a:r>
              <a:rPr sz="2900" spc="-135" dirty="0">
                <a:latin typeface="Cambria"/>
                <a:cs typeface="Cambria"/>
              </a:rPr>
              <a:t> </a:t>
            </a:r>
            <a:r>
              <a:rPr sz="2900" spc="-10" dirty="0">
                <a:latin typeface="Cambria"/>
                <a:cs typeface="Cambria"/>
              </a:rPr>
              <a:t>craft </a:t>
            </a:r>
            <a:r>
              <a:rPr sz="3050" spc="-20" dirty="0">
                <a:latin typeface="Cambria"/>
                <a:cs typeface="Cambria"/>
              </a:rPr>
              <a:t>personalized,</a:t>
            </a:r>
            <a:r>
              <a:rPr sz="3050" dirty="0">
                <a:latin typeface="Cambria"/>
                <a:cs typeface="Cambria"/>
              </a:rPr>
              <a:t>	</a:t>
            </a:r>
            <a:r>
              <a:rPr sz="3050" spc="-100" dirty="0">
                <a:latin typeface="Cambria"/>
                <a:cs typeface="Cambria"/>
              </a:rPr>
              <a:t>believable</a:t>
            </a:r>
            <a:r>
              <a:rPr sz="3050" spc="-25" dirty="0">
                <a:latin typeface="Cambria"/>
                <a:cs typeface="Cambria"/>
              </a:rPr>
              <a:t> </a:t>
            </a:r>
            <a:r>
              <a:rPr sz="3050" spc="-95" dirty="0">
                <a:latin typeface="Cambria"/>
                <a:cs typeface="Cambria"/>
              </a:rPr>
              <a:t>messages</a:t>
            </a:r>
            <a:r>
              <a:rPr sz="3050" spc="-15" dirty="0">
                <a:latin typeface="Cambria"/>
                <a:cs typeface="Cambria"/>
              </a:rPr>
              <a:t> </a:t>
            </a:r>
            <a:r>
              <a:rPr sz="3050" spc="-10" dirty="0">
                <a:latin typeface="Cambria"/>
                <a:cs typeface="Cambria"/>
              </a:rPr>
              <a:t>designed </a:t>
            </a:r>
            <a:r>
              <a:rPr sz="3050" spc="-70" dirty="0">
                <a:latin typeface="Cambria"/>
                <a:cs typeface="Cambria"/>
              </a:rPr>
              <a:t>specifically</a:t>
            </a:r>
            <a:r>
              <a:rPr sz="3050" spc="-25" dirty="0">
                <a:latin typeface="Cambria"/>
                <a:cs typeface="Cambria"/>
              </a:rPr>
              <a:t> </a:t>
            </a:r>
            <a:r>
              <a:rPr sz="3050" spc="-125" dirty="0">
                <a:latin typeface="Cambria"/>
                <a:cs typeface="Cambria"/>
              </a:rPr>
              <a:t>to</a:t>
            </a:r>
            <a:r>
              <a:rPr sz="3050" spc="-80" dirty="0">
                <a:latin typeface="Cambria"/>
                <a:cs typeface="Cambria"/>
              </a:rPr>
              <a:t> </a:t>
            </a:r>
            <a:r>
              <a:rPr sz="3050" spc="-35" dirty="0">
                <a:latin typeface="Cambria"/>
                <a:cs typeface="Cambria"/>
              </a:rPr>
              <a:t>fool</a:t>
            </a:r>
            <a:r>
              <a:rPr sz="3050" spc="-60" dirty="0">
                <a:latin typeface="Cambria"/>
                <a:cs typeface="Cambria"/>
              </a:rPr>
              <a:t> </a:t>
            </a:r>
            <a:r>
              <a:rPr sz="3050" spc="-20" dirty="0">
                <a:latin typeface="Cambria"/>
                <a:cs typeface="Cambria"/>
              </a:rPr>
              <a:t>you.</a:t>
            </a:r>
            <a:endParaRPr sz="3050" dirty="0">
              <a:latin typeface="Cambria"/>
              <a:cs typeface="Cambria"/>
            </a:endParaRPr>
          </a:p>
          <a:p>
            <a:pPr marL="27940" marR="5080" indent="8255">
              <a:lnSpc>
                <a:spcPct val="93200"/>
              </a:lnSpc>
              <a:spcBef>
                <a:spcPts val="3404"/>
              </a:spcBef>
            </a:pPr>
            <a:r>
              <a:rPr sz="3250" spc="-135" dirty="0">
                <a:latin typeface="Times New Roman"/>
                <a:cs typeface="Times New Roman"/>
              </a:rPr>
              <a:t>It</a:t>
            </a:r>
            <a:r>
              <a:rPr sz="3250" spc="-75" dirty="0">
                <a:latin typeface="Times New Roman"/>
                <a:cs typeface="Times New Roman"/>
              </a:rPr>
              <a:t> </a:t>
            </a:r>
            <a:r>
              <a:rPr sz="3250" spc="-65" dirty="0">
                <a:latin typeface="Times New Roman"/>
                <a:cs typeface="Times New Roman"/>
              </a:rPr>
              <a:t>doesn't</a:t>
            </a:r>
            <a:r>
              <a:rPr sz="3250" spc="-140" dirty="0">
                <a:latin typeface="Times New Roman"/>
                <a:cs typeface="Times New Roman"/>
              </a:rPr>
              <a:t> </a:t>
            </a:r>
            <a:r>
              <a:rPr sz="3250" spc="-30" dirty="0">
                <a:latin typeface="Times New Roman"/>
                <a:cs typeface="Times New Roman"/>
              </a:rPr>
              <a:t>matter</a:t>
            </a:r>
            <a:r>
              <a:rPr sz="3250" spc="-175" dirty="0">
                <a:latin typeface="Times New Roman"/>
                <a:cs typeface="Times New Roman"/>
              </a:rPr>
              <a:t> </a:t>
            </a:r>
            <a:r>
              <a:rPr sz="3250" spc="-120" dirty="0">
                <a:latin typeface="Times New Roman"/>
                <a:cs typeface="Times New Roman"/>
              </a:rPr>
              <a:t>what</a:t>
            </a:r>
            <a:r>
              <a:rPr sz="3250" spc="-105" dirty="0">
                <a:latin typeface="Times New Roman"/>
                <a:cs typeface="Times New Roman"/>
              </a:rPr>
              <a:t> </a:t>
            </a:r>
            <a:r>
              <a:rPr sz="3250" spc="-65" dirty="0">
                <a:latin typeface="Times New Roman"/>
                <a:cs typeface="Times New Roman"/>
              </a:rPr>
              <a:t>your</a:t>
            </a:r>
            <a:r>
              <a:rPr sz="3250" spc="-135" dirty="0">
                <a:latin typeface="Times New Roman"/>
                <a:cs typeface="Times New Roman"/>
              </a:rPr>
              <a:t> </a:t>
            </a:r>
            <a:r>
              <a:rPr sz="3250" spc="-90" dirty="0">
                <a:latin typeface="Times New Roman"/>
                <a:cs typeface="Times New Roman"/>
              </a:rPr>
              <a:t>role</a:t>
            </a:r>
            <a:r>
              <a:rPr sz="3250" spc="-114" dirty="0">
                <a:latin typeface="Times New Roman"/>
                <a:cs typeface="Times New Roman"/>
              </a:rPr>
              <a:t> </a:t>
            </a:r>
            <a:r>
              <a:rPr sz="3250" spc="-85" dirty="0">
                <a:latin typeface="Times New Roman"/>
                <a:cs typeface="Times New Roman"/>
              </a:rPr>
              <a:t>is.</a:t>
            </a:r>
            <a:r>
              <a:rPr sz="3250" spc="-315" dirty="0">
                <a:latin typeface="Times New Roman"/>
                <a:cs typeface="Times New Roman"/>
              </a:rPr>
              <a:t> </a:t>
            </a:r>
            <a:r>
              <a:rPr sz="3250" spc="-55" dirty="0">
                <a:latin typeface="Times New Roman"/>
                <a:cs typeface="Times New Roman"/>
              </a:rPr>
              <a:t>Whether</a:t>
            </a:r>
            <a:r>
              <a:rPr sz="3250" spc="-35" dirty="0">
                <a:latin typeface="Times New Roman"/>
                <a:cs typeface="Times New Roman"/>
              </a:rPr>
              <a:t> </a:t>
            </a:r>
            <a:r>
              <a:rPr sz="3250" spc="-25" dirty="0">
                <a:latin typeface="Times New Roman"/>
                <a:cs typeface="Times New Roman"/>
              </a:rPr>
              <a:t>you </a:t>
            </a:r>
            <a:r>
              <a:rPr sz="3250" spc="-125" dirty="0">
                <a:latin typeface="Times New Roman"/>
                <a:cs typeface="Times New Roman"/>
              </a:rPr>
              <a:t>have</a:t>
            </a:r>
            <a:r>
              <a:rPr sz="3250" spc="-80" dirty="0">
                <a:latin typeface="Times New Roman"/>
                <a:cs typeface="Times New Roman"/>
              </a:rPr>
              <a:t> access</a:t>
            </a:r>
            <a:r>
              <a:rPr sz="3250" spc="-125" dirty="0">
                <a:latin typeface="Times New Roman"/>
                <a:cs typeface="Times New Roman"/>
              </a:rPr>
              <a:t> </a:t>
            </a:r>
            <a:r>
              <a:rPr sz="3250" spc="-130" dirty="0">
                <a:latin typeface="Times New Roman"/>
                <a:cs typeface="Times New Roman"/>
              </a:rPr>
              <a:t>to</a:t>
            </a:r>
            <a:r>
              <a:rPr sz="3250" spc="-195" dirty="0">
                <a:latin typeface="Times New Roman"/>
                <a:cs typeface="Times New Roman"/>
              </a:rPr>
              <a:t> </a:t>
            </a:r>
            <a:r>
              <a:rPr sz="3250" spc="-80" dirty="0">
                <a:latin typeface="Times New Roman"/>
                <a:cs typeface="Times New Roman"/>
              </a:rPr>
              <a:t>financial</a:t>
            </a:r>
            <a:r>
              <a:rPr sz="3250" spc="-95" dirty="0">
                <a:latin typeface="Times New Roman"/>
                <a:cs typeface="Times New Roman"/>
              </a:rPr>
              <a:t> systems,</a:t>
            </a:r>
            <a:r>
              <a:rPr sz="3250" spc="-30" dirty="0">
                <a:latin typeface="Times New Roman"/>
                <a:cs typeface="Times New Roman"/>
              </a:rPr>
              <a:t> </a:t>
            </a:r>
            <a:r>
              <a:rPr sz="3250" spc="-60" dirty="0">
                <a:latin typeface="Times New Roman"/>
                <a:cs typeface="Times New Roman"/>
              </a:rPr>
              <a:t>client</a:t>
            </a:r>
            <a:r>
              <a:rPr sz="3250" spc="-40" dirty="0">
                <a:latin typeface="Times New Roman"/>
                <a:cs typeface="Times New Roman"/>
              </a:rPr>
              <a:t> </a:t>
            </a:r>
            <a:r>
              <a:rPr sz="3250" spc="-50" dirty="0">
                <a:latin typeface="Times New Roman"/>
                <a:cs typeface="Times New Roman"/>
              </a:rPr>
              <a:t>data,</a:t>
            </a:r>
            <a:r>
              <a:rPr sz="3250" spc="-145" dirty="0">
                <a:latin typeface="Times New Roman"/>
                <a:cs typeface="Times New Roman"/>
              </a:rPr>
              <a:t> </a:t>
            </a:r>
            <a:r>
              <a:rPr sz="3250" spc="-25" dirty="0">
                <a:latin typeface="Times New Roman"/>
                <a:cs typeface="Times New Roman"/>
              </a:rPr>
              <a:t>or </a:t>
            </a:r>
            <a:r>
              <a:rPr sz="3250" spc="-70" dirty="0">
                <a:latin typeface="Times New Roman"/>
                <a:cs typeface="Times New Roman"/>
              </a:rPr>
              <a:t>just</a:t>
            </a:r>
            <a:r>
              <a:rPr sz="3250" spc="-135" dirty="0">
                <a:latin typeface="Times New Roman"/>
                <a:cs typeface="Times New Roman"/>
              </a:rPr>
              <a:t> </a:t>
            </a:r>
            <a:r>
              <a:rPr sz="3250" spc="-125" dirty="0">
                <a:latin typeface="Times New Roman"/>
                <a:cs typeface="Times New Roman"/>
              </a:rPr>
              <a:t>your</a:t>
            </a:r>
            <a:r>
              <a:rPr sz="3250" spc="-110" dirty="0">
                <a:latin typeface="Times New Roman"/>
                <a:cs typeface="Times New Roman"/>
              </a:rPr>
              <a:t> </a:t>
            </a:r>
            <a:r>
              <a:rPr sz="3250" spc="-160" dirty="0">
                <a:latin typeface="Times New Roman"/>
                <a:cs typeface="Times New Roman"/>
              </a:rPr>
              <a:t>own</a:t>
            </a:r>
            <a:r>
              <a:rPr sz="3250" spc="-40" dirty="0">
                <a:latin typeface="Times New Roman"/>
                <a:cs typeface="Times New Roman"/>
              </a:rPr>
              <a:t> </a:t>
            </a:r>
            <a:r>
              <a:rPr sz="3250" spc="-110" dirty="0">
                <a:latin typeface="Times New Roman"/>
                <a:cs typeface="Times New Roman"/>
              </a:rPr>
              <a:t>login</a:t>
            </a:r>
            <a:r>
              <a:rPr sz="3250" spc="-95" dirty="0">
                <a:latin typeface="Times New Roman"/>
                <a:cs typeface="Times New Roman"/>
              </a:rPr>
              <a:t> </a:t>
            </a:r>
            <a:r>
              <a:rPr sz="3250" spc="-50" dirty="0">
                <a:latin typeface="Times New Roman"/>
                <a:cs typeface="Times New Roman"/>
              </a:rPr>
              <a:t>credentials,</a:t>
            </a:r>
            <a:r>
              <a:rPr sz="3250" spc="-75" dirty="0">
                <a:latin typeface="Times New Roman"/>
                <a:cs typeface="Times New Roman"/>
              </a:rPr>
              <a:t> </a:t>
            </a:r>
            <a:r>
              <a:rPr sz="3250" spc="-200" dirty="0">
                <a:latin typeface="Times New Roman"/>
                <a:cs typeface="Times New Roman"/>
              </a:rPr>
              <a:t>you</a:t>
            </a:r>
            <a:r>
              <a:rPr sz="3250" spc="-20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are</a:t>
            </a:r>
            <a:r>
              <a:rPr sz="3250" spc="-100" dirty="0">
                <a:latin typeface="Times New Roman"/>
                <a:cs typeface="Times New Roman"/>
              </a:rPr>
              <a:t> </a:t>
            </a:r>
            <a:r>
              <a:rPr sz="3250" spc="-165" dirty="0">
                <a:latin typeface="Times New Roman"/>
                <a:cs typeface="Times New Roman"/>
              </a:rPr>
              <a:t>a</a:t>
            </a:r>
            <a:r>
              <a:rPr sz="3250" spc="-114" dirty="0">
                <a:latin typeface="Times New Roman"/>
                <a:cs typeface="Times New Roman"/>
              </a:rPr>
              <a:t> </a:t>
            </a:r>
            <a:r>
              <a:rPr sz="3250" spc="-100" dirty="0">
                <a:latin typeface="Times New Roman"/>
                <a:cs typeface="Times New Roman"/>
              </a:rPr>
              <a:t>valuable </a:t>
            </a:r>
            <a:r>
              <a:rPr sz="3250" spc="-60" dirty="0">
                <a:latin typeface="Times New Roman"/>
                <a:cs typeface="Times New Roman"/>
              </a:rPr>
              <a:t>target.</a:t>
            </a:r>
            <a:r>
              <a:rPr sz="3250" spc="-145" dirty="0">
                <a:latin typeface="Times New Roman"/>
                <a:cs typeface="Times New Roman"/>
              </a:rPr>
              <a:t> </a:t>
            </a:r>
            <a:r>
              <a:rPr sz="3250" spc="-254" dirty="0">
                <a:latin typeface="Times New Roman"/>
                <a:cs typeface="Times New Roman"/>
              </a:rPr>
              <a:t>Your</a:t>
            </a:r>
            <a:r>
              <a:rPr sz="3250" spc="-105" dirty="0">
                <a:latin typeface="Times New Roman"/>
                <a:cs typeface="Times New Roman"/>
              </a:rPr>
              <a:t> </a:t>
            </a:r>
            <a:r>
              <a:rPr sz="3250" spc="-75" dirty="0">
                <a:latin typeface="Times New Roman"/>
                <a:cs typeface="Times New Roman"/>
              </a:rPr>
              <a:t>access</a:t>
            </a:r>
            <a:r>
              <a:rPr sz="3250" spc="-130" dirty="0">
                <a:latin typeface="Times New Roman"/>
                <a:cs typeface="Times New Roman"/>
              </a:rPr>
              <a:t> </a:t>
            </a:r>
            <a:r>
              <a:rPr sz="3250" spc="-120" dirty="0">
                <a:latin typeface="Times New Roman"/>
                <a:cs typeface="Times New Roman"/>
              </a:rPr>
              <a:t>is</a:t>
            </a:r>
            <a:r>
              <a:rPr sz="3250" spc="-21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their</a:t>
            </a:r>
            <a:r>
              <a:rPr sz="3250" spc="-204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entry</a:t>
            </a:r>
            <a:r>
              <a:rPr sz="3250" spc="-90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point.</a:t>
            </a:r>
            <a:endParaRPr sz="32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2349500"/>
            <a:ext cx="5664200" cy="4279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0591" rIns="0" bIns="0" rtlCol="0">
            <a:spAutoFit/>
          </a:bodyPr>
          <a:lstStyle/>
          <a:p>
            <a:pPr marL="430530">
              <a:lnSpc>
                <a:spcPct val="100000"/>
              </a:lnSpc>
              <a:spcBef>
                <a:spcPts val="125"/>
              </a:spcBef>
            </a:pPr>
            <a:r>
              <a:rPr sz="5250" spc="-40" dirty="0">
                <a:solidFill>
                  <a:srgbClr val="334F77"/>
                </a:solidFill>
                <a:latin typeface="Arial MT"/>
                <a:cs typeface="Arial MT"/>
              </a:rPr>
              <a:t>The</a:t>
            </a:r>
            <a:r>
              <a:rPr sz="5250" spc="-145" dirty="0">
                <a:solidFill>
                  <a:srgbClr val="334F77"/>
                </a:solidFill>
                <a:latin typeface="Arial MT"/>
                <a:cs typeface="Arial MT"/>
              </a:rPr>
              <a:t> </a:t>
            </a:r>
            <a:r>
              <a:rPr sz="5250" dirty="0">
                <a:solidFill>
                  <a:srgbClr val="334F77"/>
                </a:solidFill>
                <a:latin typeface="Arial MT"/>
                <a:cs typeface="Arial MT"/>
              </a:rPr>
              <a:t>Attacker's</a:t>
            </a:r>
            <a:r>
              <a:rPr sz="5250" spc="-254" dirty="0">
                <a:solidFill>
                  <a:srgbClr val="334F77"/>
                </a:solidFill>
                <a:latin typeface="Arial MT"/>
                <a:cs typeface="Arial MT"/>
              </a:rPr>
              <a:t> </a:t>
            </a:r>
            <a:r>
              <a:rPr sz="5250" dirty="0">
                <a:solidFill>
                  <a:srgbClr val="314D75"/>
                </a:solidFill>
                <a:latin typeface="Arial MT"/>
                <a:cs typeface="Arial MT"/>
              </a:rPr>
              <a:t>Primary</a:t>
            </a:r>
            <a:r>
              <a:rPr sz="5250" spc="-60" dirty="0">
                <a:solidFill>
                  <a:srgbClr val="314D75"/>
                </a:solidFill>
                <a:latin typeface="Arial MT"/>
                <a:cs typeface="Arial MT"/>
              </a:rPr>
              <a:t> </a:t>
            </a:r>
            <a:r>
              <a:rPr sz="5250" spc="-120" dirty="0">
                <a:solidFill>
                  <a:srgbClr val="2F4B72"/>
                </a:solidFill>
                <a:latin typeface="Arial MT"/>
                <a:cs typeface="Arial MT"/>
              </a:rPr>
              <a:t>Weapon:</a:t>
            </a:r>
            <a:r>
              <a:rPr sz="5250" spc="-235" dirty="0">
                <a:solidFill>
                  <a:srgbClr val="2F4B72"/>
                </a:solidFill>
                <a:latin typeface="Arial MT"/>
                <a:cs typeface="Arial MT"/>
              </a:rPr>
              <a:t> </a:t>
            </a:r>
            <a:r>
              <a:rPr sz="5250" spc="-55" dirty="0">
                <a:solidFill>
                  <a:srgbClr val="2F4B74"/>
                </a:solidFill>
                <a:latin typeface="Arial MT"/>
                <a:cs typeface="Arial MT"/>
              </a:rPr>
              <a:t>Social</a:t>
            </a:r>
            <a:r>
              <a:rPr sz="5250" spc="-325" dirty="0">
                <a:solidFill>
                  <a:srgbClr val="2F4B74"/>
                </a:solidFill>
                <a:latin typeface="Arial MT"/>
                <a:cs typeface="Arial MT"/>
              </a:rPr>
              <a:t> </a:t>
            </a:r>
            <a:r>
              <a:rPr sz="5250" spc="-10" dirty="0">
                <a:solidFill>
                  <a:srgbClr val="314D75"/>
                </a:solidFill>
                <a:latin typeface="Arial MT"/>
                <a:cs typeface="Arial MT"/>
              </a:rPr>
              <a:t>Engineering</a:t>
            </a:r>
            <a:endParaRPr sz="52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93431" y="7116585"/>
            <a:ext cx="13863319" cy="17532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065" marR="5080" algn="ctr">
              <a:lnSpc>
                <a:spcPts val="3650"/>
              </a:lnSpc>
              <a:spcBef>
                <a:spcPts val="440"/>
              </a:spcBef>
            </a:pPr>
            <a:r>
              <a:rPr sz="3250" spc="-30" dirty="0">
                <a:solidFill>
                  <a:srgbClr val="0A0A0A"/>
                </a:solidFill>
                <a:latin typeface="Cambria"/>
                <a:cs typeface="Cambria"/>
              </a:rPr>
              <a:t>Social</a:t>
            </a:r>
            <a:r>
              <a:rPr sz="3250" spc="-160" dirty="0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sz="3250" spc="-60" dirty="0">
                <a:solidFill>
                  <a:srgbClr val="0C0C0C"/>
                </a:solidFill>
                <a:latin typeface="Cambria"/>
                <a:cs typeface="Cambria"/>
              </a:rPr>
              <a:t>engineering</a:t>
            </a:r>
            <a:r>
              <a:rPr sz="3250" spc="-10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3250" dirty="0">
                <a:latin typeface="Cambria"/>
                <a:cs typeface="Cambria"/>
              </a:rPr>
              <a:t>is</a:t>
            </a:r>
            <a:r>
              <a:rPr sz="3250" spc="-180" dirty="0">
                <a:latin typeface="Cambria"/>
                <a:cs typeface="Cambria"/>
              </a:rPr>
              <a:t> </a:t>
            </a:r>
            <a:r>
              <a:rPr sz="3250" spc="-110" dirty="0">
                <a:latin typeface="Cambria"/>
                <a:cs typeface="Cambria"/>
              </a:rPr>
              <a:t>the</a:t>
            </a:r>
            <a:r>
              <a:rPr sz="3250" spc="-65" dirty="0">
                <a:latin typeface="Cambria"/>
                <a:cs typeface="Cambria"/>
              </a:rPr>
              <a:t> </a:t>
            </a:r>
            <a:r>
              <a:rPr sz="3250" spc="-170" dirty="0">
                <a:latin typeface="Cambria"/>
                <a:cs typeface="Cambria"/>
              </a:rPr>
              <a:t>art</a:t>
            </a:r>
            <a:r>
              <a:rPr sz="3250" spc="-10" dirty="0">
                <a:latin typeface="Cambria"/>
                <a:cs typeface="Cambria"/>
              </a:rPr>
              <a:t> </a:t>
            </a:r>
            <a:r>
              <a:rPr sz="3250" dirty="0">
                <a:latin typeface="Cambria"/>
                <a:cs typeface="Cambria"/>
              </a:rPr>
              <a:t>of</a:t>
            </a:r>
            <a:r>
              <a:rPr sz="3250" spc="-150" dirty="0">
                <a:latin typeface="Cambria"/>
                <a:cs typeface="Cambria"/>
              </a:rPr>
              <a:t> </a:t>
            </a:r>
            <a:r>
              <a:rPr sz="3250" spc="-114" dirty="0">
                <a:latin typeface="Cambria"/>
                <a:cs typeface="Cambria"/>
              </a:rPr>
              <a:t>psychological</a:t>
            </a:r>
            <a:r>
              <a:rPr sz="3250" spc="130" dirty="0">
                <a:latin typeface="Cambria"/>
                <a:cs typeface="Cambria"/>
              </a:rPr>
              <a:t> </a:t>
            </a:r>
            <a:r>
              <a:rPr sz="3250" spc="-105" dirty="0">
                <a:latin typeface="Cambria"/>
                <a:cs typeface="Cambria"/>
              </a:rPr>
              <a:t>manipulation.</a:t>
            </a:r>
            <a:r>
              <a:rPr sz="3250" spc="140" dirty="0">
                <a:latin typeface="Cambria"/>
                <a:cs typeface="Cambria"/>
              </a:rPr>
              <a:t> </a:t>
            </a:r>
            <a:r>
              <a:rPr sz="3250" spc="-125" dirty="0">
                <a:latin typeface="Cambria"/>
                <a:cs typeface="Cambria"/>
              </a:rPr>
              <a:t>Instead</a:t>
            </a:r>
            <a:r>
              <a:rPr sz="3250" spc="-55" dirty="0">
                <a:latin typeface="Cambria"/>
                <a:cs typeface="Cambria"/>
              </a:rPr>
              <a:t> </a:t>
            </a:r>
            <a:r>
              <a:rPr sz="3250" dirty="0">
                <a:latin typeface="Cambria"/>
                <a:cs typeface="Cambria"/>
              </a:rPr>
              <a:t>of</a:t>
            </a:r>
            <a:r>
              <a:rPr sz="3250" spc="-135" dirty="0">
                <a:latin typeface="Cambria"/>
                <a:cs typeface="Cambria"/>
              </a:rPr>
              <a:t> </a:t>
            </a:r>
            <a:r>
              <a:rPr sz="3250" spc="-100" dirty="0">
                <a:latin typeface="Cambria"/>
                <a:cs typeface="Cambria"/>
              </a:rPr>
              <a:t>trying</a:t>
            </a:r>
            <a:r>
              <a:rPr sz="3250" spc="50" dirty="0">
                <a:latin typeface="Cambria"/>
                <a:cs typeface="Cambria"/>
              </a:rPr>
              <a:t> </a:t>
            </a:r>
            <a:r>
              <a:rPr sz="3250" spc="-210" dirty="0">
                <a:latin typeface="Cambria"/>
                <a:cs typeface="Cambria"/>
              </a:rPr>
              <a:t>to</a:t>
            </a:r>
            <a:r>
              <a:rPr sz="3250" dirty="0">
                <a:latin typeface="Cambria"/>
                <a:cs typeface="Cambria"/>
              </a:rPr>
              <a:t> </a:t>
            </a:r>
            <a:r>
              <a:rPr sz="3250" spc="-20" dirty="0">
                <a:latin typeface="Cambria"/>
                <a:cs typeface="Cambria"/>
              </a:rPr>
              <a:t>hack </a:t>
            </a:r>
            <a:r>
              <a:rPr sz="3250" spc="-60" dirty="0">
                <a:solidFill>
                  <a:srgbClr val="080808"/>
                </a:solidFill>
                <a:latin typeface="Cambria"/>
                <a:cs typeface="Cambria"/>
              </a:rPr>
              <a:t>code,</a:t>
            </a:r>
            <a:r>
              <a:rPr sz="3250" spc="-85" dirty="0">
                <a:solidFill>
                  <a:srgbClr val="080808"/>
                </a:solidFill>
                <a:latin typeface="Cambria"/>
                <a:cs typeface="Cambria"/>
              </a:rPr>
              <a:t> </a:t>
            </a:r>
            <a:r>
              <a:rPr sz="3250" spc="-155" dirty="0">
                <a:latin typeface="Cambria"/>
                <a:cs typeface="Cambria"/>
              </a:rPr>
              <a:t>attackers</a:t>
            </a:r>
            <a:r>
              <a:rPr sz="3250" spc="-20" dirty="0">
                <a:latin typeface="Cambria"/>
                <a:cs typeface="Cambria"/>
              </a:rPr>
              <a:t> </a:t>
            </a:r>
            <a:r>
              <a:rPr sz="3250" spc="-95" dirty="0">
                <a:latin typeface="Cambria"/>
                <a:cs typeface="Cambria"/>
              </a:rPr>
              <a:t>‘hack’</a:t>
            </a:r>
            <a:r>
              <a:rPr sz="3250" spc="-80" dirty="0">
                <a:latin typeface="Cambria"/>
                <a:cs typeface="Cambria"/>
              </a:rPr>
              <a:t> </a:t>
            </a:r>
            <a:r>
              <a:rPr sz="3250" spc="-155" dirty="0">
                <a:solidFill>
                  <a:srgbClr val="080808"/>
                </a:solidFill>
                <a:latin typeface="Cambria"/>
                <a:cs typeface="Cambria"/>
              </a:rPr>
              <a:t>our</a:t>
            </a:r>
            <a:r>
              <a:rPr sz="3250" spc="-25" dirty="0">
                <a:solidFill>
                  <a:srgbClr val="080808"/>
                </a:solidFill>
                <a:latin typeface="Cambria"/>
                <a:cs typeface="Cambria"/>
              </a:rPr>
              <a:t> </a:t>
            </a:r>
            <a:r>
              <a:rPr sz="3250" spc="-120" dirty="0">
                <a:latin typeface="Cambria"/>
                <a:cs typeface="Cambria"/>
              </a:rPr>
              <a:t>natural</a:t>
            </a:r>
            <a:r>
              <a:rPr sz="3250" spc="-55" dirty="0">
                <a:latin typeface="Cambria"/>
                <a:cs typeface="Cambria"/>
              </a:rPr>
              <a:t> </a:t>
            </a:r>
            <a:r>
              <a:rPr sz="3250" spc="-114" dirty="0">
                <a:latin typeface="Cambria"/>
                <a:cs typeface="Cambria"/>
              </a:rPr>
              <a:t>human</a:t>
            </a:r>
            <a:r>
              <a:rPr sz="3250" spc="-45" dirty="0">
                <a:latin typeface="Cambria"/>
                <a:cs typeface="Cambria"/>
              </a:rPr>
              <a:t> </a:t>
            </a:r>
            <a:r>
              <a:rPr sz="3250" spc="-125" dirty="0">
                <a:latin typeface="Cambria"/>
                <a:cs typeface="Cambria"/>
              </a:rPr>
              <a:t>tendencies</a:t>
            </a:r>
            <a:r>
              <a:rPr sz="3250" spc="40" dirty="0">
                <a:latin typeface="Cambria"/>
                <a:cs typeface="Cambria"/>
              </a:rPr>
              <a:t> </a:t>
            </a:r>
            <a:r>
              <a:rPr sz="3250" spc="-150" dirty="0">
                <a:latin typeface="Cambria"/>
                <a:cs typeface="Cambria"/>
              </a:rPr>
              <a:t>to</a:t>
            </a:r>
            <a:r>
              <a:rPr sz="3250" spc="-70" dirty="0">
                <a:latin typeface="Cambria"/>
                <a:cs typeface="Cambria"/>
              </a:rPr>
              <a:t> </a:t>
            </a:r>
            <a:r>
              <a:rPr sz="3250" spc="-95" dirty="0">
                <a:latin typeface="Cambria"/>
                <a:cs typeface="Cambria"/>
              </a:rPr>
              <a:t>trust,</a:t>
            </a:r>
            <a:r>
              <a:rPr sz="3250" spc="15" dirty="0">
                <a:latin typeface="Cambria"/>
                <a:cs typeface="Cambria"/>
              </a:rPr>
              <a:t> </a:t>
            </a:r>
            <a:r>
              <a:rPr sz="3250" spc="-55" dirty="0">
                <a:latin typeface="Cambria"/>
                <a:cs typeface="Cambria"/>
              </a:rPr>
              <a:t>help,</a:t>
            </a:r>
            <a:r>
              <a:rPr sz="3250" spc="-5" dirty="0">
                <a:latin typeface="Cambria"/>
                <a:cs typeface="Cambria"/>
              </a:rPr>
              <a:t> </a:t>
            </a:r>
            <a:r>
              <a:rPr sz="3250" spc="-95" dirty="0">
                <a:solidFill>
                  <a:srgbClr val="080808"/>
                </a:solidFill>
                <a:latin typeface="Cambria"/>
                <a:cs typeface="Cambria"/>
              </a:rPr>
              <a:t>or</a:t>
            </a:r>
            <a:r>
              <a:rPr sz="3250" spc="-45" dirty="0">
                <a:solidFill>
                  <a:srgbClr val="080808"/>
                </a:solidFill>
                <a:latin typeface="Cambria"/>
                <a:cs typeface="Cambria"/>
              </a:rPr>
              <a:t> </a:t>
            </a:r>
            <a:r>
              <a:rPr sz="3250" spc="-145" dirty="0">
                <a:latin typeface="Cambria"/>
                <a:cs typeface="Cambria"/>
              </a:rPr>
              <a:t>react</a:t>
            </a:r>
            <a:r>
              <a:rPr sz="3250" spc="-35" dirty="0">
                <a:latin typeface="Cambria"/>
                <a:cs typeface="Cambria"/>
              </a:rPr>
              <a:t> </a:t>
            </a:r>
            <a:r>
              <a:rPr sz="3250" spc="-10" dirty="0">
                <a:latin typeface="Cambria"/>
                <a:cs typeface="Cambria"/>
              </a:rPr>
              <a:t>quickly.</a:t>
            </a:r>
            <a:endParaRPr sz="3250">
              <a:latin typeface="Cambria"/>
              <a:cs typeface="Cambria"/>
            </a:endParaRPr>
          </a:p>
          <a:p>
            <a:pPr marL="27305" algn="ctr">
              <a:lnSpc>
                <a:spcPct val="100000"/>
              </a:lnSpc>
              <a:spcBef>
                <a:spcPts val="2120"/>
              </a:spcBef>
            </a:pPr>
            <a:r>
              <a:rPr sz="3200" i="1" spc="-10" dirty="0">
                <a:latin typeface="Times New Roman"/>
                <a:cs typeface="Times New Roman"/>
              </a:rPr>
              <a:t>They</a:t>
            </a:r>
            <a:r>
              <a:rPr sz="3200" i="1" spc="-190" dirty="0">
                <a:latin typeface="Times New Roman"/>
                <a:cs typeface="Times New Roman"/>
              </a:rPr>
              <a:t> </a:t>
            </a:r>
            <a:r>
              <a:rPr sz="3200" i="1" spc="-50" dirty="0">
                <a:latin typeface="Times New Roman"/>
                <a:cs typeface="Times New Roman"/>
              </a:rPr>
              <a:t>don't</a:t>
            </a:r>
            <a:r>
              <a:rPr sz="3200" i="1" spc="-150" dirty="0">
                <a:latin typeface="Times New Roman"/>
                <a:cs typeface="Times New Roman"/>
              </a:rPr>
              <a:t> </a:t>
            </a:r>
            <a:r>
              <a:rPr sz="3200" i="1" spc="-110" dirty="0">
                <a:latin typeface="Times New Roman"/>
                <a:cs typeface="Times New Roman"/>
              </a:rPr>
              <a:t>break</a:t>
            </a:r>
            <a:r>
              <a:rPr sz="3200" i="1" spc="-9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in.</a:t>
            </a:r>
            <a:r>
              <a:rPr sz="3200" i="1" spc="-200" dirty="0">
                <a:latin typeface="Times New Roman"/>
                <a:cs typeface="Times New Roman"/>
              </a:rPr>
              <a:t> </a:t>
            </a:r>
            <a:r>
              <a:rPr sz="3200" i="1" spc="-30" dirty="0">
                <a:latin typeface="Times New Roman"/>
                <a:cs typeface="Times New Roman"/>
              </a:rPr>
              <a:t>They</a:t>
            </a:r>
            <a:r>
              <a:rPr sz="3200" i="1" spc="-140" dirty="0">
                <a:latin typeface="Times New Roman"/>
                <a:cs typeface="Times New Roman"/>
              </a:rPr>
              <a:t> </a:t>
            </a:r>
            <a:r>
              <a:rPr sz="3200" i="1" spc="-45" dirty="0">
                <a:latin typeface="Times New Roman"/>
                <a:cs typeface="Times New Roman"/>
              </a:rPr>
              <a:t>trick</a:t>
            </a:r>
            <a:r>
              <a:rPr sz="3200" i="1" spc="-10" dirty="0">
                <a:latin typeface="Times New Roman"/>
                <a:cs typeface="Times New Roman"/>
              </a:rPr>
              <a:t> </a:t>
            </a:r>
            <a:r>
              <a:rPr sz="3200" i="1" spc="-35" dirty="0">
                <a:latin typeface="Times New Roman"/>
                <a:cs typeface="Times New Roman"/>
              </a:rPr>
              <a:t>you</a:t>
            </a:r>
            <a:r>
              <a:rPr sz="3200" i="1" spc="-165" dirty="0">
                <a:latin typeface="Times New Roman"/>
                <a:cs typeface="Times New Roman"/>
              </a:rPr>
              <a:t> </a:t>
            </a:r>
            <a:r>
              <a:rPr sz="3200" i="1" spc="-10" dirty="0">
                <a:latin typeface="Times New Roman"/>
                <a:cs typeface="Times New Roman"/>
              </a:rPr>
              <a:t>into</a:t>
            </a:r>
            <a:r>
              <a:rPr sz="3200" i="1" spc="-190" dirty="0">
                <a:latin typeface="Times New Roman"/>
                <a:cs typeface="Times New Roman"/>
              </a:rPr>
              <a:t> </a:t>
            </a:r>
            <a:r>
              <a:rPr sz="3200" i="1" spc="-10" dirty="0">
                <a:latin typeface="Times New Roman"/>
                <a:cs typeface="Times New Roman"/>
              </a:rPr>
              <a:t>letting</a:t>
            </a:r>
            <a:r>
              <a:rPr sz="3200" i="1" spc="-114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them</a:t>
            </a:r>
            <a:r>
              <a:rPr sz="3200" i="1" spc="-200" dirty="0">
                <a:latin typeface="Times New Roman"/>
                <a:cs typeface="Times New Roman"/>
              </a:rPr>
              <a:t> </a:t>
            </a:r>
            <a:r>
              <a:rPr sz="3200" i="1" spc="25" dirty="0">
                <a:latin typeface="Times New Roman"/>
                <a:cs typeface="Times New Roman"/>
              </a:rPr>
              <a:t>in.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4800" y="2540000"/>
            <a:ext cx="1435100" cy="1689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2540000"/>
            <a:ext cx="1435100" cy="1689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62900" y="2514600"/>
            <a:ext cx="1549400" cy="1727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74400" y="2527300"/>
            <a:ext cx="1778000" cy="17145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655800" y="2527300"/>
            <a:ext cx="1079500" cy="12192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9817" y="483305"/>
            <a:ext cx="15481108" cy="961089"/>
          </a:xfrm>
          <a:prstGeom prst="rect">
            <a:avLst/>
          </a:prstGeom>
        </p:spPr>
        <p:txBody>
          <a:bodyPr vert="horz" wrap="square" lIns="0" tIns="151694" rIns="0" bIns="0" rtlCol="0">
            <a:spAutoFit/>
          </a:bodyPr>
          <a:lstStyle/>
          <a:p>
            <a:pPr marL="3338195">
              <a:lnSpc>
                <a:spcPct val="100000"/>
              </a:lnSpc>
              <a:spcBef>
                <a:spcPts val="125"/>
              </a:spcBef>
            </a:pPr>
            <a:r>
              <a:rPr sz="5250" dirty="0">
                <a:solidFill>
                  <a:srgbClr val="334F77"/>
                </a:solidFill>
                <a:latin typeface="Arial MT"/>
                <a:cs typeface="Arial MT"/>
              </a:rPr>
              <a:t>The Five Triggers They Exploit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960421" y="3680883"/>
            <a:ext cx="437515" cy="660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150" spc="-50" dirty="0">
                <a:solidFill>
                  <a:srgbClr val="334862"/>
                </a:solidFill>
                <a:latin typeface="Arial MT"/>
                <a:cs typeface="Arial MT"/>
              </a:rPr>
              <a:t>O</a:t>
            </a:r>
            <a:endParaRPr sz="4150">
              <a:latin typeface="Arial MT"/>
              <a:cs typeface="Arial MT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886196" y="4555654"/>
          <a:ext cx="15650844" cy="4054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4190"/>
                <a:gridCol w="3177540"/>
                <a:gridCol w="3250564"/>
                <a:gridCol w="3168650"/>
                <a:gridCol w="3009900"/>
              </a:tblGrid>
              <a:tr h="727710">
                <a:tc>
                  <a:txBody>
                    <a:bodyPr/>
                    <a:lstStyle/>
                    <a:p>
                      <a:pPr marR="276860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900" spc="-10" dirty="0">
                          <a:solidFill>
                            <a:srgbClr val="364B64"/>
                          </a:solidFill>
                          <a:latin typeface="Arial MT"/>
                          <a:cs typeface="Arial MT"/>
                        </a:rPr>
                        <a:t>URGENCY</a:t>
                      </a:r>
                      <a:endParaRPr sz="2900">
                        <a:latin typeface="Arial MT"/>
                        <a:cs typeface="Arial MT"/>
                      </a:endParaRPr>
                    </a:p>
                  </a:txBody>
                  <a:tcPr marL="0" marR="0" marT="187325" marB="0"/>
                </a:tc>
                <a:tc>
                  <a:txBody>
                    <a:bodyPr/>
                    <a:lstStyle/>
                    <a:p>
                      <a:pPr marR="33020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900" spc="-20" dirty="0">
                          <a:solidFill>
                            <a:srgbClr val="3A4D67"/>
                          </a:solidFill>
                          <a:latin typeface="Arial MT"/>
                          <a:cs typeface="Arial MT"/>
                        </a:rPr>
                        <a:t>FEAR</a:t>
                      </a:r>
                      <a:endParaRPr sz="2900">
                        <a:latin typeface="Arial MT"/>
                        <a:cs typeface="Arial MT"/>
                      </a:endParaRPr>
                    </a:p>
                  </a:txBody>
                  <a:tcPr marL="0" marR="0" marT="187325" marB="0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900" spc="-20" dirty="0">
                          <a:solidFill>
                            <a:srgbClr val="2D425B"/>
                          </a:solidFill>
                          <a:latin typeface="Arial MT"/>
                          <a:cs typeface="Arial MT"/>
                        </a:rPr>
                        <a:t>GREED</a:t>
                      </a:r>
                      <a:endParaRPr sz="2900">
                        <a:latin typeface="Arial MT"/>
                        <a:cs typeface="Arial MT"/>
                      </a:endParaRPr>
                    </a:p>
                  </a:txBody>
                  <a:tcPr marL="0" marR="0" marT="187325" marB="0"/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900" spc="-55" dirty="0">
                          <a:solidFill>
                            <a:srgbClr val="384D6B"/>
                          </a:solidFill>
                          <a:latin typeface="Arial MT"/>
                          <a:cs typeface="Arial MT"/>
                        </a:rPr>
                        <a:t>HELPFULNESS</a:t>
                      </a:r>
                      <a:endParaRPr sz="2900">
                        <a:latin typeface="Arial MT"/>
                        <a:cs typeface="Arial MT"/>
                      </a:endParaRPr>
                    </a:p>
                  </a:txBody>
                  <a:tcPr marL="0" marR="0" marT="187325" marB="0"/>
                </a:tc>
                <a:tc>
                  <a:txBody>
                    <a:bodyPr/>
                    <a:lstStyle/>
                    <a:p>
                      <a:pPr marL="690245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2900" spc="-10" dirty="0">
                          <a:solidFill>
                            <a:srgbClr val="2F425D"/>
                          </a:solidFill>
                          <a:latin typeface="Arial MT"/>
                          <a:cs typeface="Arial MT"/>
                        </a:rPr>
                        <a:t>CURIOSITY</a:t>
                      </a:r>
                      <a:endParaRPr sz="2900">
                        <a:latin typeface="Arial MT"/>
                        <a:cs typeface="Arial MT"/>
                      </a:endParaRPr>
                    </a:p>
                  </a:txBody>
                  <a:tcPr marL="0" marR="0" marT="187325" marB="0"/>
                </a:tc>
              </a:tr>
              <a:tr h="450850">
                <a:tc>
                  <a:txBody>
                    <a:bodyPr/>
                    <a:lstStyle/>
                    <a:p>
                      <a:pPr marR="240665" algn="ctr">
                        <a:lnSpc>
                          <a:spcPts val="2805"/>
                        </a:lnSpc>
                        <a:spcBef>
                          <a:spcPts val="645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Creating</a:t>
                      </a:r>
                      <a:r>
                        <a:rPr sz="24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7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400" spc="-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false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81915" marB="0"/>
                </a:tc>
                <a:tc>
                  <a:txBody>
                    <a:bodyPr/>
                    <a:lstStyle/>
                    <a:p>
                      <a:pPr marR="46990" algn="ctr">
                        <a:lnSpc>
                          <a:spcPts val="2805"/>
                        </a:lnSpc>
                        <a:spcBef>
                          <a:spcPts val="645"/>
                        </a:spcBef>
                      </a:pPr>
                      <a:r>
                        <a:rPr sz="2400" spc="-10" dirty="0">
                          <a:latin typeface="Cambria"/>
                          <a:cs typeface="Cambria"/>
                        </a:rPr>
                        <a:t>Threatening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81915" marB="0"/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ts val="2805"/>
                        </a:lnSpc>
                        <a:spcBef>
                          <a:spcPts val="645"/>
                        </a:spcBef>
                      </a:pPr>
                      <a:r>
                        <a:rPr sz="2400" spc="-25" dirty="0">
                          <a:latin typeface="Cambria"/>
                          <a:cs typeface="Cambria"/>
                        </a:rPr>
                        <a:t>Promising</a:t>
                      </a:r>
                      <a:r>
                        <a:rPr sz="240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400" spc="-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reward,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81915" marB="0"/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2805"/>
                        </a:lnSpc>
                        <a:spcBef>
                          <a:spcPts val="645"/>
                        </a:spcBef>
                      </a:pPr>
                      <a:r>
                        <a:rPr sz="2400" spc="-20" dirty="0">
                          <a:latin typeface="Cambria"/>
                          <a:cs typeface="Cambria"/>
                        </a:rPr>
                        <a:t>Posing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as</a:t>
                      </a:r>
                      <a:r>
                        <a:rPr sz="24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50" dirty="0">
                          <a:latin typeface="Cambria"/>
                          <a:cs typeface="Cambria"/>
                        </a:rPr>
                        <a:t>a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81915" marB="0"/>
                </a:tc>
                <a:tc>
                  <a:txBody>
                    <a:bodyPr/>
                    <a:lstStyle/>
                    <a:p>
                      <a:pPr marL="440690">
                        <a:lnSpc>
                          <a:spcPts val="2805"/>
                        </a:lnSpc>
                        <a:spcBef>
                          <a:spcPts val="645"/>
                        </a:spcBef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Using</a:t>
                      </a:r>
                      <a:r>
                        <a:rPr sz="24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20" dirty="0">
                          <a:latin typeface="Cambria"/>
                          <a:cs typeface="Cambria"/>
                        </a:rPr>
                        <a:t>intriguing</a:t>
                      </a:r>
                      <a:r>
                        <a:rPr sz="2400" spc="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25" dirty="0">
                          <a:latin typeface="Cambria"/>
                          <a:cs typeface="Cambria"/>
                        </a:rPr>
                        <a:t>or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81915" marB="0"/>
                </a:tc>
              </a:tr>
              <a:tr h="358140">
                <a:tc>
                  <a:txBody>
                    <a:bodyPr/>
                    <a:lstStyle/>
                    <a:p>
                      <a:pPr marR="229235" algn="ctr">
                        <a:lnSpc>
                          <a:spcPts val="2725"/>
                        </a:lnSpc>
                      </a:pPr>
                      <a:r>
                        <a:rPr sz="2500" spc="-65" dirty="0">
                          <a:latin typeface="Cambria"/>
                          <a:cs typeface="Cambria"/>
                        </a:rPr>
                        <a:t>deadline</a:t>
                      </a:r>
                      <a:r>
                        <a:rPr sz="25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35" dirty="0">
                          <a:latin typeface="Cambria"/>
                          <a:cs typeface="Cambria"/>
                        </a:rPr>
                        <a:t>or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ts val="2725"/>
                        </a:lnSpc>
                      </a:pPr>
                      <a:r>
                        <a:rPr sz="2500" spc="-10" dirty="0">
                          <a:latin typeface="Cambria"/>
                          <a:cs typeface="Cambria"/>
                        </a:rPr>
                        <a:t>negative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2725"/>
                        </a:lnSpc>
                      </a:pPr>
                      <a:r>
                        <a:rPr sz="2500" spc="-70" dirty="0">
                          <a:latin typeface="Cambria"/>
                          <a:cs typeface="Cambria"/>
                        </a:rPr>
                        <a:t>reward,</a:t>
                      </a:r>
                      <a:r>
                        <a:rPr sz="2500" spc="-50" dirty="0">
                          <a:latin typeface="Cambria"/>
                          <a:cs typeface="Cambria"/>
                        </a:rPr>
                        <a:t> prize,</a:t>
                      </a:r>
                      <a:r>
                        <a:rPr sz="25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25" dirty="0">
                          <a:latin typeface="Cambria"/>
                          <a:cs typeface="Cambria"/>
                        </a:rPr>
                        <a:t>or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ts val="2725"/>
                        </a:lnSpc>
                      </a:pPr>
                      <a:r>
                        <a:rPr sz="2500" spc="-65" dirty="0">
                          <a:latin typeface="Cambria"/>
                          <a:cs typeface="Cambria"/>
                        </a:rPr>
                        <a:t>colleague</a:t>
                      </a:r>
                      <a:r>
                        <a:rPr sz="25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30" dirty="0">
                          <a:latin typeface="Cambria"/>
                          <a:cs typeface="Cambria"/>
                        </a:rPr>
                        <a:t>or</a:t>
                      </a:r>
                      <a:r>
                        <a:rPr sz="2500" spc="-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25" dirty="0">
                          <a:latin typeface="Cambria"/>
                          <a:cs typeface="Cambria"/>
                        </a:rPr>
                        <a:t>IT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1660">
                        <a:lnSpc>
                          <a:spcPts val="2725"/>
                        </a:lnSpc>
                      </a:pPr>
                      <a:r>
                        <a:rPr sz="2500" spc="-60" dirty="0">
                          <a:latin typeface="Cambria"/>
                          <a:cs typeface="Cambria"/>
                        </a:rPr>
                        <a:t>alarming</a:t>
                      </a:r>
                      <a:r>
                        <a:rPr sz="2500" spc="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subject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</a:tr>
              <a:tr h="359410">
                <a:tc>
                  <a:txBody>
                    <a:bodyPr/>
                    <a:lstStyle/>
                    <a:p>
                      <a:pPr marR="248285" algn="ctr">
                        <a:lnSpc>
                          <a:spcPts val="2735"/>
                        </a:lnSpc>
                      </a:pPr>
                      <a:r>
                        <a:rPr sz="2550" spc="-114" dirty="0">
                          <a:latin typeface="Cambria"/>
                          <a:cs typeface="Cambria"/>
                        </a:rPr>
                        <a:t>emergency</a:t>
                      </a:r>
                      <a:r>
                        <a:rPr sz="255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165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55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20" dirty="0">
                          <a:latin typeface="Cambria"/>
                          <a:cs typeface="Cambria"/>
                        </a:rPr>
                        <a:t>make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2735"/>
                        </a:lnSpc>
                      </a:pPr>
                      <a:r>
                        <a:rPr sz="2550" spc="-105" dirty="0">
                          <a:latin typeface="Cambria"/>
                          <a:cs typeface="Cambria"/>
                        </a:rPr>
                        <a:t>consequences</a:t>
                      </a:r>
                      <a:r>
                        <a:rPr sz="255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2550" spc="-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25" dirty="0">
                          <a:latin typeface="Cambria"/>
                          <a:cs typeface="Cambria"/>
                        </a:rPr>
                        <a:t>you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35"/>
                        </a:lnSpc>
                      </a:pPr>
                      <a:r>
                        <a:rPr sz="2550" spc="-65" dirty="0">
                          <a:latin typeface="Cambria"/>
                          <a:cs typeface="Cambria"/>
                        </a:rPr>
                        <a:t>deal</a:t>
                      </a:r>
                      <a:r>
                        <a:rPr sz="2550" spc="-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100" dirty="0">
                          <a:latin typeface="Cambria"/>
                          <a:cs typeface="Cambria"/>
                        </a:rPr>
                        <a:t>that</a:t>
                      </a:r>
                      <a:r>
                        <a:rPr sz="255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7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2550" spc="-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25" dirty="0">
                          <a:latin typeface="Cambria"/>
                          <a:cs typeface="Cambria"/>
                        </a:rPr>
                        <a:t>too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2735"/>
                        </a:lnSpc>
                      </a:pPr>
                      <a:r>
                        <a:rPr sz="2550" spc="-120" dirty="0">
                          <a:latin typeface="Cambria"/>
                          <a:cs typeface="Cambria"/>
                        </a:rPr>
                        <a:t>support</a:t>
                      </a:r>
                      <a:r>
                        <a:rPr sz="2550" spc="-10" dirty="0">
                          <a:latin typeface="Cambria"/>
                          <a:cs typeface="Cambria"/>
                        </a:rPr>
                        <a:t> needing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735"/>
                        </a:lnSpc>
                      </a:pPr>
                      <a:r>
                        <a:rPr sz="2550" spc="-60" dirty="0">
                          <a:latin typeface="Cambria"/>
                          <a:cs typeface="Cambria"/>
                        </a:rPr>
                        <a:t>lines</a:t>
                      </a:r>
                      <a:r>
                        <a:rPr sz="2550" spc="-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145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550" spc="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80" dirty="0">
                          <a:latin typeface="Cambria"/>
                          <a:cs typeface="Cambria"/>
                        </a:rPr>
                        <a:t>entice</a:t>
                      </a:r>
                      <a:r>
                        <a:rPr sz="255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120" dirty="0">
                          <a:latin typeface="Cambria"/>
                          <a:cs typeface="Cambria"/>
                        </a:rPr>
                        <a:t>you</a:t>
                      </a:r>
                      <a:r>
                        <a:rPr sz="255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25" dirty="0">
                          <a:latin typeface="Cambria"/>
                          <a:cs typeface="Cambria"/>
                        </a:rPr>
                        <a:t>to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</a:tr>
              <a:tr h="359410">
                <a:tc>
                  <a:txBody>
                    <a:bodyPr/>
                    <a:lstStyle/>
                    <a:p>
                      <a:pPr marR="239395" algn="ctr">
                        <a:lnSpc>
                          <a:spcPts val="2735"/>
                        </a:lnSpc>
                      </a:pPr>
                      <a:r>
                        <a:rPr sz="2550" spc="-100" dirty="0">
                          <a:latin typeface="Cambria"/>
                          <a:cs typeface="Cambria"/>
                        </a:rPr>
                        <a:t>you</a:t>
                      </a:r>
                      <a:r>
                        <a:rPr sz="255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75" dirty="0">
                          <a:latin typeface="Cambria"/>
                          <a:cs typeface="Cambria"/>
                        </a:rPr>
                        <a:t>act</a:t>
                      </a:r>
                      <a:r>
                        <a:rPr sz="255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85" dirty="0">
                          <a:latin typeface="Cambria"/>
                          <a:cs typeface="Cambria"/>
                        </a:rPr>
                        <a:t>before</a:t>
                      </a:r>
                      <a:r>
                        <a:rPr sz="255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25" dirty="0">
                          <a:latin typeface="Cambria"/>
                          <a:cs typeface="Cambria"/>
                        </a:rPr>
                        <a:t>you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735"/>
                        </a:lnSpc>
                      </a:pPr>
                      <a:r>
                        <a:rPr sz="2550" spc="-110" dirty="0">
                          <a:latin typeface="Cambria"/>
                          <a:cs typeface="Cambria"/>
                        </a:rPr>
                        <a:t>don't</a:t>
                      </a:r>
                      <a:r>
                        <a:rPr sz="2550" spc="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110" dirty="0">
                          <a:latin typeface="Cambria"/>
                          <a:cs typeface="Cambria"/>
                        </a:rPr>
                        <a:t>comply.</a:t>
                      </a:r>
                      <a:r>
                        <a:rPr sz="255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10" dirty="0">
                          <a:latin typeface="Cambria"/>
                          <a:cs typeface="Cambria"/>
                        </a:rPr>
                        <a:t>(e.g.,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2735"/>
                        </a:lnSpc>
                      </a:pPr>
                      <a:r>
                        <a:rPr sz="2550" spc="-114" dirty="0">
                          <a:latin typeface="Cambria"/>
                          <a:cs typeface="Cambria"/>
                        </a:rPr>
                        <a:t>good</a:t>
                      </a:r>
                      <a:r>
                        <a:rPr sz="255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16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55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75" dirty="0">
                          <a:latin typeface="Cambria"/>
                          <a:cs typeface="Cambria"/>
                        </a:rPr>
                        <a:t>be</a:t>
                      </a:r>
                      <a:r>
                        <a:rPr sz="255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10" dirty="0">
                          <a:latin typeface="Cambria"/>
                          <a:cs typeface="Cambria"/>
                        </a:rPr>
                        <a:t>true.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ts val="2735"/>
                        </a:lnSpc>
                      </a:pPr>
                      <a:r>
                        <a:rPr sz="2550" spc="-110" dirty="0">
                          <a:latin typeface="Cambria"/>
                          <a:cs typeface="Cambria"/>
                        </a:rPr>
                        <a:t>your</a:t>
                      </a:r>
                      <a:r>
                        <a:rPr sz="25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100" dirty="0">
                          <a:latin typeface="Cambria"/>
                          <a:cs typeface="Cambria"/>
                        </a:rPr>
                        <a:t>help</a:t>
                      </a:r>
                      <a:r>
                        <a:rPr sz="255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105" dirty="0">
                          <a:latin typeface="Cambria"/>
                          <a:cs typeface="Cambria"/>
                        </a:rPr>
                        <a:t>with</a:t>
                      </a:r>
                      <a:r>
                        <a:rPr sz="2550" spc="-25" dirty="0">
                          <a:latin typeface="Cambria"/>
                          <a:cs typeface="Cambria"/>
                        </a:rPr>
                        <a:t> an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2075" algn="r">
                        <a:lnSpc>
                          <a:spcPts val="2735"/>
                        </a:lnSpc>
                      </a:pPr>
                      <a:r>
                        <a:rPr sz="2550" spc="-95" dirty="0">
                          <a:latin typeface="Cambria"/>
                          <a:cs typeface="Cambria"/>
                        </a:rPr>
                        <a:t>open</a:t>
                      </a:r>
                      <a:r>
                        <a:rPr sz="255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20" dirty="0">
                          <a:latin typeface="Cambria"/>
                          <a:cs typeface="Cambria"/>
                        </a:rPr>
                        <a:t>an</a:t>
                      </a:r>
                      <a:r>
                        <a:rPr sz="2550" spc="-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30" dirty="0">
                          <a:latin typeface="Cambria"/>
                          <a:cs typeface="Cambria"/>
                        </a:rPr>
                        <a:t>attachment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</a:tr>
              <a:tr h="358775">
                <a:tc>
                  <a:txBody>
                    <a:bodyPr/>
                    <a:lstStyle/>
                    <a:p>
                      <a:pPr marR="249554" algn="ctr">
                        <a:lnSpc>
                          <a:spcPts val="2725"/>
                        </a:lnSpc>
                      </a:pPr>
                      <a:r>
                        <a:rPr sz="2500" spc="-10" dirty="0">
                          <a:latin typeface="Cambria"/>
                          <a:cs typeface="Cambria"/>
                        </a:rPr>
                        <a:t>can</a:t>
                      </a:r>
                      <a:r>
                        <a:rPr sz="2500" spc="-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45" dirty="0">
                          <a:latin typeface="Cambria"/>
                          <a:cs typeface="Cambria"/>
                        </a:rPr>
                        <a:t>think.</a:t>
                      </a:r>
                      <a:r>
                        <a:rPr sz="2500" spc="-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(e.g.,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5560" algn="ctr">
                        <a:lnSpc>
                          <a:spcPts val="2725"/>
                        </a:lnSpc>
                      </a:pPr>
                      <a:r>
                        <a:rPr sz="2500" spc="-70" dirty="0">
                          <a:latin typeface="Cambria"/>
                          <a:cs typeface="Cambria"/>
                        </a:rPr>
                        <a:t>"Suspicious</a:t>
                      </a:r>
                      <a:r>
                        <a:rPr sz="2500" spc="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activity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2725"/>
                        </a:lnSpc>
                      </a:pPr>
                      <a:r>
                        <a:rPr sz="2500" dirty="0">
                          <a:latin typeface="Cambria"/>
                          <a:cs typeface="Cambria"/>
                        </a:rPr>
                        <a:t>(e.g.,</a:t>
                      </a:r>
                      <a:r>
                        <a:rPr sz="2500" spc="-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14" dirty="0">
                          <a:latin typeface="Cambria"/>
                          <a:cs typeface="Cambria"/>
                        </a:rPr>
                        <a:t>"You've</a:t>
                      </a:r>
                      <a:r>
                        <a:rPr sz="25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50" dirty="0">
                          <a:latin typeface="Cambria"/>
                          <a:cs typeface="Cambria"/>
                        </a:rPr>
                        <a:t>won</a:t>
                      </a:r>
                      <a:r>
                        <a:rPr sz="2500" spc="-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50" dirty="0">
                          <a:latin typeface="Cambria"/>
                          <a:cs typeface="Cambria"/>
                        </a:rPr>
                        <a:t>a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2725"/>
                        </a:lnSpc>
                      </a:pPr>
                      <a:r>
                        <a:rPr sz="2500" spc="-75" dirty="0">
                          <a:latin typeface="Cambria"/>
                          <a:cs typeface="Cambria"/>
                        </a:rPr>
                        <a:t>"urgent"</a:t>
                      </a:r>
                      <a:r>
                        <a:rPr sz="2500" spc="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65" dirty="0">
                          <a:latin typeface="Cambria"/>
                          <a:cs typeface="Cambria"/>
                        </a:rPr>
                        <a:t>task.</a:t>
                      </a:r>
                      <a:r>
                        <a:rPr sz="2500" spc="-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(e.g.,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0">
                        <a:lnSpc>
                          <a:spcPts val="2725"/>
                        </a:lnSpc>
                      </a:pPr>
                      <a:r>
                        <a:rPr sz="2500" spc="-95" dirty="0">
                          <a:latin typeface="Cambria"/>
                          <a:cs typeface="Cambria"/>
                        </a:rPr>
                        <a:t>or</a:t>
                      </a:r>
                      <a:r>
                        <a:rPr sz="2500" spc="-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click</a:t>
                      </a:r>
                      <a:r>
                        <a:rPr sz="25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05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25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link.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</a:tr>
              <a:tr h="353060">
                <a:tc>
                  <a:txBody>
                    <a:bodyPr/>
                    <a:lstStyle/>
                    <a:p>
                      <a:pPr marR="241935" algn="ctr">
                        <a:lnSpc>
                          <a:spcPts val="2685"/>
                        </a:lnSpc>
                      </a:pPr>
                      <a:r>
                        <a:rPr sz="2400" spc="-30" dirty="0">
                          <a:latin typeface="Cambria"/>
                          <a:cs typeface="Cambria"/>
                        </a:rPr>
                        <a:t>"Your</a:t>
                      </a:r>
                      <a:r>
                        <a:rPr sz="2400" spc="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20" dirty="0">
                          <a:latin typeface="Cambria"/>
                          <a:cs typeface="Cambria"/>
                        </a:rPr>
                        <a:t>account</a:t>
                      </a:r>
                      <a:r>
                        <a:rPr sz="2400" spc="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will</a:t>
                      </a:r>
                      <a:r>
                        <a:rPr sz="2400" spc="-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25" dirty="0">
                          <a:latin typeface="Cambria"/>
                          <a:cs typeface="Cambria"/>
                        </a:rPr>
                        <a:t>be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ts val="2685"/>
                        </a:lnSpc>
                      </a:pPr>
                      <a:r>
                        <a:rPr sz="2400" spc="-40" dirty="0">
                          <a:latin typeface="Cambria"/>
                          <a:cs typeface="Cambria"/>
                        </a:rPr>
                        <a:t>detected.</a:t>
                      </a:r>
                      <a:r>
                        <a:rPr sz="2400" spc="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Log</a:t>
                      </a:r>
                      <a:r>
                        <a:rPr sz="2400" spc="-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40" dirty="0">
                          <a:latin typeface="Cambria"/>
                          <a:cs typeface="Cambria"/>
                        </a:rPr>
                        <a:t>in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2685"/>
                        </a:lnSpc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2400" spc="-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20" dirty="0">
                          <a:latin typeface="Cambria"/>
                          <a:cs typeface="Cambria"/>
                        </a:rPr>
                        <a:t>iPhone!</a:t>
                      </a:r>
                      <a:r>
                        <a:rPr sz="24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Click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2685"/>
                        </a:lnSpc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”Can</a:t>
                      </a:r>
                      <a:r>
                        <a:rPr sz="24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you</a:t>
                      </a:r>
                      <a:r>
                        <a:rPr sz="2400" spc="-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quickly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9755">
                        <a:lnSpc>
                          <a:spcPts val="2685"/>
                        </a:lnSpc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(e.g.,</a:t>
                      </a:r>
                      <a:r>
                        <a:rPr sz="24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25" dirty="0">
                          <a:latin typeface="Cambria"/>
                          <a:cs typeface="Cambria"/>
                        </a:rPr>
                        <a:t>”Re:</a:t>
                      </a:r>
                      <a:r>
                        <a:rPr sz="24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Photos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</a:tr>
              <a:tr h="1087120">
                <a:tc>
                  <a:txBody>
                    <a:bodyPr/>
                    <a:lstStyle/>
                    <a:p>
                      <a:pPr marR="245745" algn="ctr">
                        <a:lnSpc>
                          <a:spcPts val="2745"/>
                        </a:lnSpc>
                      </a:pPr>
                      <a:r>
                        <a:rPr sz="2500" spc="-85" dirty="0">
                          <a:latin typeface="Cambria"/>
                          <a:cs typeface="Cambria"/>
                        </a:rPr>
                        <a:t>suspended</a:t>
                      </a:r>
                      <a:r>
                        <a:rPr sz="25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4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2500" spc="-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50" dirty="0">
                          <a:latin typeface="Cambria"/>
                          <a:cs typeface="Cambria"/>
                        </a:rPr>
                        <a:t>1</a:t>
                      </a:r>
                      <a:endParaRPr sz="2500">
                        <a:latin typeface="Cambria"/>
                        <a:cs typeface="Cambria"/>
                      </a:endParaRPr>
                    </a:p>
                    <a:p>
                      <a:pPr marR="236854" algn="ctr">
                        <a:lnSpc>
                          <a:spcPts val="2960"/>
                        </a:lnSpc>
                      </a:pPr>
                      <a:r>
                        <a:rPr sz="2550" spc="-10" dirty="0">
                          <a:latin typeface="Cambria"/>
                          <a:cs typeface="Cambria"/>
                        </a:rPr>
                        <a:t>hour.")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2615" marR="628015" algn="ctr">
                        <a:lnSpc>
                          <a:spcPct val="92500"/>
                        </a:lnSpc>
                        <a:spcBef>
                          <a:spcPts val="25"/>
                        </a:spcBef>
                      </a:pPr>
                      <a:r>
                        <a:rPr sz="2500" spc="-70" dirty="0">
                          <a:latin typeface="Cambria"/>
                          <a:cs typeface="Cambria"/>
                        </a:rPr>
                        <a:t>immediately</a:t>
                      </a:r>
                      <a:r>
                        <a:rPr sz="2500" spc="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85" dirty="0">
                          <a:latin typeface="Cambria"/>
                          <a:cs typeface="Cambria"/>
                        </a:rPr>
                        <a:t>to </a:t>
                      </a:r>
                      <a:r>
                        <a:rPr sz="2550" spc="-75" dirty="0">
                          <a:latin typeface="Cambria"/>
                          <a:cs typeface="Cambria"/>
                        </a:rPr>
                        <a:t>secure</a:t>
                      </a:r>
                      <a:r>
                        <a:rPr sz="255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20" dirty="0">
                          <a:latin typeface="Cambria"/>
                          <a:cs typeface="Cambria"/>
                        </a:rPr>
                        <a:t>your </a:t>
                      </a:r>
                      <a:r>
                        <a:rPr sz="2550" spc="-10" dirty="0">
                          <a:latin typeface="Cambria"/>
                          <a:cs typeface="Cambria"/>
                        </a:rPr>
                        <a:t>account.")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45"/>
                        </a:lnSpc>
                      </a:pPr>
                      <a:r>
                        <a:rPr sz="2500" spc="-35" dirty="0">
                          <a:latin typeface="Cambria"/>
                          <a:cs typeface="Cambria"/>
                        </a:rPr>
                        <a:t>here</a:t>
                      </a:r>
                      <a:r>
                        <a:rPr sz="2500" spc="-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5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5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claim.")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5280" marR="322580" algn="ctr">
                        <a:lnSpc>
                          <a:spcPct val="92500"/>
                        </a:lnSpc>
                        <a:spcBef>
                          <a:spcPts val="25"/>
                        </a:spcBef>
                      </a:pPr>
                      <a:r>
                        <a:rPr sz="2500" spc="-70" dirty="0">
                          <a:latin typeface="Cambria"/>
                          <a:cs typeface="Cambria"/>
                        </a:rPr>
                        <a:t>process</a:t>
                      </a:r>
                      <a:r>
                        <a:rPr sz="25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00" dirty="0">
                          <a:latin typeface="Cambria"/>
                          <a:cs typeface="Cambria"/>
                        </a:rPr>
                        <a:t>this</a:t>
                      </a:r>
                      <a:r>
                        <a:rPr sz="2500" spc="-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60" dirty="0">
                          <a:latin typeface="Cambria"/>
                          <a:cs typeface="Cambria"/>
                        </a:rPr>
                        <a:t>invoice </a:t>
                      </a:r>
                      <a:r>
                        <a:rPr sz="2550" spc="-20" dirty="0">
                          <a:latin typeface="Cambria"/>
                          <a:cs typeface="Cambria"/>
                        </a:rPr>
                        <a:t>for</a:t>
                      </a:r>
                      <a:r>
                        <a:rPr sz="2550" spc="-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130" dirty="0">
                          <a:latin typeface="Cambria"/>
                          <a:cs typeface="Cambria"/>
                        </a:rPr>
                        <a:t>me?</a:t>
                      </a:r>
                      <a:r>
                        <a:rPr sz="255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90" dirty="0">
                          <a:latin typeface="Cambria"/>
                          <a:cs typeface="Cambria"/>
                        </a:rPr>
                        <a:t>I'm</a:t>
                      </a:r>
                      <a:r>
                        <a:rPr sz="255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dirty="0">
                          <a:latin typeface="Cambria"/>
                          <a:cs typeface="Cambria"/>
                        </a:rPr>
                        <a:t>in</a:t>
                      </a:r>
                      <a:r>
                        <a:rPr sz="2550" spc="-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50" dirty="0">
                          <a:latin typeface="Cambria"/>
                          <a:cs typeface="Cambria"/>
                        </a:rPr>
                        <a:t>a </a:t>
                      </a:r>
                      <a:r>
                        <a:rPr sz="2550" spc="-10" dirty="0">
                          <a:latin typeface="Cambria"/>
                          <a:cs typeface="Cambria"/>
                        </a:rPr>
                        <a:t>meeting.”)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492759" marR="173990" algn="ctr">
                        <a:lnSpc>
                          <a:spcPct val="92500"/>
                        </a:lnSpc>
                        <a:spcBef>
                          <a:spcPts val="25"/>
                        </a:spcBef>
                      </a:pPr>
                      <a:r>
                        <a:rPr sz="2500" spc="-45" dirty="0">
                          <a:latin typeface="Cambria"/>
                          <a:cs typeface="Cambria"/>
                        </a:rPr>
                        <a:t>from</a:t>
                      </a:r>
                      <a:r>
                        <a:rPr sz="2500" spc="-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8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5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70" dirty="0">
                          <a:latin typeface="Cambria"/>
                          <a:cs typeface="Cambria"/>
                        </a:rPr>
                        <a:t>party”</a:t>
                      </a:r>
                      <a:r>
                        <a:rPr sz="2500" spc="-25" dirty="0">
                          <a:latin typeface="Cambria"/>
                          <a:cs typeface="Cambria"/>
                        </a:rPr>
                        <a:t> or </a:t>
                      </a:r>
                      <a:r>
                        <a:rPr sz="2550" spc="-125" dirty="0">
                          <a:latin typeface="Cambria"/>
                          <a:cs typeface="Cambria"/>
                        </a:rPr>
                        <a:t>"Updated</a:t>
                      </a:r>
                      <a:r>
                        <a:rPr sz="2550" spc="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50" spc="-10" dirty="0">
                          <a:latin typeface="Cambria"/>
                          <a:cs typeface="Cambria"/>
                        </a:rPr>
                        <a:t>Layoff List.")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3175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2413000" y="1810266"/>
            <a:ext cx="11201400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pc="-350">
                <a:solidFill>
                  <a:srgbClr val="2D4970"/>
                </a:solidFill>
                <a:latin typeface="Arial MT"/>
                <a:cs typeface="Arial MT"/>
              </a:defRPr>
            </a:lvl1pPr>
          </a:lstStyle>
          <a:p>
            <a:pPr algn="ctr"/>
            <a:r>
              <a:rPr lang="en-US" sz="7350" spc="-705" dirty="0">
                <a:solidFill>
                  <a:srgbClr val="314972"/>
                </a:solidFill>
                <a:ea typeface="+mj-ea"/>
              </a:rPr>
              <a:t>How to Identify Fake Websites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7550" y="3843516"/>
            <a:ext cx="69723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pPr marL="457200" indent="-457200" algn="l">
              <a:buFont typeface="Arial" pitchFamily="34" charset="0"/>
              <a:buChar char="•"/>
            </a:pPr>
            <a:r>
              <a:rPr lang="en-US" sz="2800" spc="-100" dirty="0">
                <a:latin typeface="Cambria"/>
                <a:cs typeface="Cambria"/>
              </a:rPr>
              <a:t>Misspelled URLs (e.g., paypa1.com)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spc="-100" dirty="0">
                <a:latin typeface="Cambria"/>
                <a:cs typeface="Cambria"/>
              </a:rPr>
              <a:t>No HTTPS (no lock symbol)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spc="-100" dirty="0">
                <a:latin typeface="Cambria"/>
                <a:cs typeface="Cambria"/>
              </a:rPr>
              <a:t>Poor website design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spc="-100" dirty="0">
                <a:latin typeface="Cambria"/>
                <a:cs typeface="Cambria"/>
              </a:rPr>
              <a:t>Fake login pages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US" sz="2800" spc="-100" dirty="0">
                <a:latin typeface="Cambria"/>
                <a:cs typeface="Cambria"/>
              </a:rPr>
              <a:t>Unrealistic offers and discounts</a:t>
            </a:r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6600" y="8204200"/>
            <a:ext cx="3238500" cy="190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8500" y="4953000"/>
            <a:ext cx="3276600" cy="177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67900" y="2578100"/>
            <a:ext cx="4267200" cy="11303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209800" y="3757083"/>
            <a:ext cx="1642745" cy="0"/>
          </a:xfrm>
          <a:custGeom>
            <a:avLst/>
            <a:gdLst/>
            <a:ahLst/>
            <a:cxnLst/>
            <a:rect l="l" t="t" r="r" b="b"/>
            <a:pathLst>
              <a:path w="1642745">
                <a:moveTo>
                  <a:pt x="0" y="0"/>
                </a:moveTo>
                <a:lnTo>
                  <a:pt x="1642533" y="0"/>
                </a:lnTo>
              </a:path>
            </a:pathLst>
          </a:custGeom>
          <a:ln w="4233">
            <a:solidFill>
              <a:srgbClr val="5487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55800" y="3490383"/>
            <a:ext cx="575945" cy="0"/>
          </a:xfrm>
          <a:custGeom>
            <a:avLst/>
            <a:gdLst/>
            <a:ahLst/>
            <a:cxnLst/>
            <a:rect l="l" t="t" r="r" b="b"/>
            <a:pathLst>
              <a:path w="575944">
                <a:moveTo>
                  <a:pt x="0" y="0"/>
                </a:moveTo>
                <a:lnTo>
                  <a:pt x="575733" y="0"/>
                </a:lnTo>
              </a:path>
            </a:pathLst>
          </a:custGeom>
          <a:ln w="4233">
            <a:solidFill>
              <a:srgbClr val="5487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67000" y="3490383"/>
            <a:ext cx="982344" cy="0"/>
          </a:xfrm>
          <a:custGeom>
            <a:avLst/>
            <a:gdLst/>
            <a:ahLst/>
            <a:cxnLst/>
            <a:rect l="l" t="t" r="r" b="b"/>
            <a:pathLst>
              <a:path w="982345">
                <a:moveTo>
                  <a:pt x="0" y="0"/>
                </a:moveTo>
                <a:lnTo>
                  <a:pt x="982133" y="0"/>
                </a:lnTo>
              </a:path>
            </a:pathLst>
          </a:custGeom>
          <a:ln w="4233">
            <a:solidFill>
              <a:srgbClr val="5487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054600" y="6680200"/>
            <a:ext cx="901700" cy="292100"/>
            <a:chOff x="5054600" y="6680200"/>
            <a:chExt cx="901700" cy="29210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54600" y="6680200"/>
              <a:ext cx="901700" cy="2921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54600" y="6680200"/>
              <a:ext cx="901700" cy="29210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1734800" y="6680200"/>
            <a:ext cx="901700" cy="292100"/>
            <a:chOff x="11734800" y="6680200"/>
            <a:chExt cx="901700" cy="29210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734800" y="6680200"/>
              <a:ext cx="901700" cy="2921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734800" y="6680200"/>
              <a:ext cx="901700" cy="292100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43000" y="3289300"/>
            <a:ext cx="8255000" cy="1270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43000" y="3479800"/>
            <a:ext cx="2794000" cy="3048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24200" y="5321300"/>
            <a:ext cx="1574800" cy="11430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702300" y="3556000"/>
            <a:ext cx="2235200" cy="1651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029700" y="3568700"/>
            <a:ext cx="127000" cy="11430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804400" y="5321300"/>
            <a:ext cx="1574800" cy="127000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391497" y="728133"/>
            <a:ext cx="14697075" cy="850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400" dirty="0">
                <a:solidFill>
                  <a:srgbClr val="31496E"/>
                </a:solidFill>
                <a:latin typeface="Arial MT"/>
                <a:cs typeface="Arial MT"/>
              </a:rPr>
              <a:t>Spot</a:t>
            </a:r>
            <a:r>
              <a:rPr sz="5400" spc="-65" dirty="0">
                <a:solidFill>
                  <a:srgbClr val="31496E"/>
                </a:solidFill>
                <a:latin typeface="Arial MT"/>
                <a:cs typeface="Arial MT"/>
              </a:rPr>
              <a:t> </a:t>
            </a:r>
            <a:r>
              <a:rPr sz="5400" spc="195" dirty="0">
                <a:solidFill>
                  <a:srgbClr val="385277"/>
                </a:solidFill>
                <a:latin typeface="Arial MT"/>
                <a:cs typeface="Arial MT"/>
              </a:rPr>
              <a:t>the</a:t>
            </a:r>
            <a:r>
              <a:rPr sz="5400" spc="-360" dirty="0">
                <a:solidFill>
                  <a:srgbClr val="385277"/>
                </a:solidFill>
                <a:latin typeface="Arial MT"/>
                <a:cs typeface="Arial MT"/>
              </a:rPr>
              <a:t> </a:t>
            </a:r>
            <a:r>
              <a:rPr sz="5400" spc="-35" dirty="0">
                <a:solidFill>
                  <a:srgbClr val="344D75"/>
                </a:solidFill>
                <a:latin typeface="Arial MT"/>
                <a:cs typeface="Arial MT"/>
              </a:rPr>
              <a:t>Fake:</a:t>
            </a:r>
            <a:r>
              <a:rPr sz="5400" spc="-325" dirty="0">
                <a:solidFill>
                  <a:srgbClr val="344D75"/>
                </a:solidFill>
                <a:latin typeface="Arial MT"/>
                <a:cs typeface="Arial MT"/>
              </a:rPr>
              <a:t> </a:t>
            </a:r>
            <a:r>
              <a:rPr sz="5400" spc="120" dirty="0">
                <a:solidFill>
                  <a:srgbClr val="344D72"/>
                </a:solidFill>
                <a:latin typeface="Arial MT"/>
                <a:cs typeface="Arial MT"/>
              </a:rPr>
              <a:t>Legitimate</a:t>
            </a:r>
            <a:r>
              <a:rPr sz="5400" spc="25" dirty="0">
                <a:solidFill>
                  <a:srgbClr val="344D72"/>
                </a:solidFill>
                <a:latin typeface="Arial MT"/>
                <a:cs typeface="Arial MT"/>
              </a:rPr>
              <a:t> </a:t>
            </a:r>
            <a:r>
              <a:rPr sz="5400" spc="180" dirty="0">
                <a:solidFill>
                  <a:srgbClr val="334B74"/>
                </a:solidFill>
                <a:latin typeface="Arial MT"/>
                <a:cs typeface="Arial MT"/>
              </a:rPr>
              <a:t>vs.</a:t>
            </a:r>
            <a:r>
              <a:rPr sz="5400" spc="-700" dirty="0">
                <a:solidFill>
                  <a:srgbClr val="334B74"/>
                </a:solidFill>
                <a:latin typeface="Arial MT"/>
                <a:cs typeface="Arial MT"/>
              </a:rPr>
              <a:t> </a:t>
            </a:r>
            <a:r>
              <a:rPr sz="5400" spc="95" dirty="0">
                <a:solidFill>
                  <a:srgbClr val="384F77"/>
                </a:solidFill>
                <a:latin typeface="Arial MT"/>
                <a:cs typeface="Arial MT"/>
              </a:rPr>
              <a:t>Phishing</a:t>
            </a:r>
            <a:r>
              <a:rPr sz="5400" spc="-125" dirty="0">
                <a:solidFill>
                  <a:srgbClr val="384F77"/>
                </a:solidFill>
                <a:latin typeface="Arial MT"/>
                <a:cs typeface="Arial MT"/>
              </a:rPr>
              <a:t> </a:t>
            </a:r>
            <a:r>
              <a:rPr sz="5400" spc="65" dirty="0">
                <a:solidFill>
                  <a:srgbClr val="345075"/>
                </a:solidFill>
                <a:latin typeface="Arial MT"/>
                <a:cs typeface="Arial MT"/>
              </a:rPr>
              <a:t>Website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68407" y="2252838"/>
            <a:ext cx="8966200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894195" algn="l"/>
              </a:tabLst>
            </a:pPr>
            <a:r>
              <a:rPr sz="3600" spc="-10" dirty="0">
                <a:solidFill>
                  <a:srgbClr val="344D6E"/>
                </a:solidFill>
                <a:latin typeface="Arial MT"/>
                <a:cs typeface="Arial MT"/>
              </a:rPr>
              <a:t>LEGITIMATE</a:t>
            </a:r>
            <a:r>
              <a:rPr sz="3600" dirty="0">
                <a:solidFill>
                  <a:srgbClr val="344D6E"/>
                </a:solidFill>
                <a:latin typeface="Arial MT"/>
                <a:cs typeface="Arial MT"/>
              </a:rPr>
              <a:t>	</a:t>
            </a:r>
            <a:r>
              <a:rPr sz="3600" spc="-150" dirty="0">
                <a:solidFill>
                  <a:srgbClr val="31496B"/>
                </a:solidFill>
                <a:latin typeface="Arial MT"/>
                <a:cs typeface="Arial MT"/>
              </a:rPr>
              <a:t>PHISHING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53718" y="4914900"/>
            <a:ext cx="7080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solidFill>
                  <a:srgbClr val="606060"/>
                </a:solidFill>
                <a:latin typeface="Arial MT"/>
                <a:cs typeface="Arial MT"/>
              </a:rPr>
              <a:t>Microsoh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01991" y="5535083"/>
            <a:ext cx="1362075" cy="5937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dirty="0">
                <a:latin typeface="Arial MT"/>
                <a:cs typeface="Arial MT"/>
              </a:rPr>
              <a:t>Sign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40" dirty="0">
                <a:latin typeface="Arial MT"/>
                <a:cs typeface="Arial MT"/>
              </a:rPr>
              <a:t>in</a:t>
            </a:r>
            <a:endParaRPr sz="1650">
              <a:latin typeface="Arial MT"/>
              <a:cs typeface="Arial MT"/>
            </a:endParaRPr>
          </a:p>
          <a:p>
            <a:pPr marL="33020">
              <a:lnSpc>
                <a:spcPct val="100000"/>
              </a:lnSpc>
              <a:spcBef>
                <a:spcPts val="1220"/>
              </a:spcBef>
            </a:pPr>
            <a:r>
              <a:rPr sz="1050" spc="-70" dirty="0">
                <a:solidFill>
                  <a:srgbClr val="6B6B6B"/>
                </a:solidFill>
                <a:latin typeface="Arial MT"/>
                <a:cs typeface="Arial MT"/>
              </a:rPr>
              <a:t>£</a:t>
            </a:r>
            <a:r>
              <a:rPr sz="1050" spc="-17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1050" spc="-40" dirty="0">
                <a:solidFill>
                  <a:srgbClr val="777777"/>
                </a:solidFill>
                <a:latin typeface="Arial MT"/>
                <a:cs typeface="Arial MT"/>
              </a:rPr>
              <a:t>mgil,</a:t>
            </a:r>
            <a:r>
              <a:rPr sz="1050" spc="-35" dirty="0">
                <a:solidFill>
                  <a:srgbClr val="777777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7E7E7E"/>
                </a:solidFill>
                <a:latin typeface="Arial MT"/>
                <a:cs typeface="Arial MT"/>
              </a:rPr>
              <a:t>or</a:t>
            </a:r>
            <a:r>
              <a:rPr sz="105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7C7C7C"/>
                </a:solidFill>
                <a:latin typeface="Arial MT"/>
                <a:cs typeface="Arial MT"/>
              </a:rPr>
              <a:t>email</a:t>
            </a:r>
            <a:r>
              <a:rPr sz="1050" spc="-15" dirty="0">
                <a:solidFill>
                  <a:srgbClr val="7C7C7C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6E6E6E"/>
                </a:solidFill>
                <a:latin typeface="Arial MT"/>
                <a:cs typeface="Arial MT"/>
              </a:rPr>
              <a:t>address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782191" y="5535083"/>
            <a:ext cx="685165" cy="279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dirty="0">
                <a:latin typeface="Arial MT"/>
                <a:cs typeface="Arial MT"/>
              </a:rPr>
              <a:t>Sign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40" dirty="0">
                <a:latin typeface="Arial MT"/>
                <a:cs typeface="Arial MT"/>
              </a:rPr>
              <a:t>in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208303" y="2418644"/>
            <a:ext cx="2803525" cy="161544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9050" marR="5080" indent="3175">
              <a:lnSpc>
                <a:spcPct val="96100"/>
              </a:lnSpc>
              <a:spcBef>
                <a:spcPts val="190"/>
              </a:spcBef>
            </a:pPr>
            <a:r>
              <a:rPr sz="1800" spc="-135" dirty="0">
                <a:latin typeface="Arial MT"/>
                <a:cs typeface="Arial MT"/>
              </a:rPr>
              <a:t>The</a:t>
            </a:r>
            <a:r>
              <a:rPr sz="1800" spc="-140" dirty="0">
                <a:latin typeface="Arial MT"/>
                <a:cs typeface="Arial MT"/>
              </a:rPr>
              <a:t> </a:t>
            </a:r>
            <a:r>
              <a:rPr sz="1800" spc="-250" dirty="0">
                <a:latin typeface="Arial MT"/>
                <a:cs typeface="Arial MT"/>
              </a:rPr>
              <a:t>URL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is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75" dirty="0">
                <a:latin typeface="Arial MT"/>
                <a:cs typeface="Arial MT"/>
              </a:rPr>
              <a:t>slightly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35" dirty="0">
                <a:latin typeface="Arial MT"/>
                <a:cs typeface="Arial MT"/>
              </a:rPr>
              <a:t>misspelled </a:t>
            </a:r>
            <a:r>
              <a:rPr sz="1800" spc="-120" dirty="0">
                <a:latin typeface="Arial MT"/>
                <a:cs typeface="Arial MT"/>
              </a:rPr>
              <a:t>(e.g.,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'Microsofft.com’)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or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00" dirty="0">
                <a:latin typeface="Arial MT"/>
                <a:cs typeface="Arial MT"/>
              </a:rPr>
              <a:t>on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131313"/>
                </a:solidFill>
                <a:latin typeface="Arial MT"/>
                <a:cs typeface="Arial MT"/>
              </a:rPr>
              <a:t>a </a:t>
            </a:r>
            <a:r>
              <a:rPr sz="1800" spc="-80" dirty="0">
                <a:latin typeface="Arial MT"/>
                <a:cs typeface="Arial MT"/>
              </a:rPr>
              <a:t>completely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5" dirty="0">
                <a:latin typeface="Arial MT"/>
                <a:cs typeface="Arial MT"/>
              </a:rPr>
              <a:t>different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domain.</a:t>
            </a:r>
            <a:endParaRPr sz="1800">
              <a:latin typeface="Arial MT"/>
              <a:cs typeface="Arial MT"/>
            </a:endParaRPr>
          </a:p>
          <a:p>
            <a:pPr marL="12700" marR="377825" indent="10160">
              <a:lnSpc>
                <a:spcPct val="95200"/>
              </a:lnSpc>
              <a:spcBef>
                <a:spcPts val="85"/>
              </a:spcBef>
            </a:pPr>
            <a:r>
              <a:rPr sz="1700" spc="-85" dirty="0">
                <a:latin typeface="Arial MT"/>
                <a:cs typeface="Arial MT"/>
              </a:rPr>
              <a:t>There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130" dirty="0">
                <a:latin typeface="Arial MT"/>
                <a:cs typeface="Arial MT"/>
              </a:rPr>
              <a:t> </a:t>
            </a:r>
            <a:r>
              <a:rPr sz="1700" spc="-45" dirty="0">
                <a:solidFill>
                  <a:srgbClr val="0C0C0C"/>
                </a:solidFill>
                <a:latin typeface="Arial MT"/>
                <a:cs typeface="Arial MT"/>
              </a:rPr>
              <a:t>no</a:t>
            </a:r>
            <a:r>
              <a:rPr sz="1700" spc="-10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latin typeface="Arial MT"/>
                <a:cs typeface="Arial MT"/>
              </a:rPr>
              <a:t>padlock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icon, </a:t>
            </a:r>
            <a:r>
              <a:rPr sz="1850" spc="-160" dirty="0">
                <a:latin typeface="Arial MT"/>
                <a:cs typeface="Arial MT"/>
              </a:rPr>
              <a:t>meaning</a:t>
            </a:r>
            <a:r>
              <a:rPr sz="1850" spc="50" dirty="0">
                <a:latin typeface="Arial MT"/>
                <a:cs typeface="Arial MT"/>
              </a:rPr>
              <a:t> </a:t>
            </a:r>
            <a:r>
              <a:rPr sz="1850" spc="-90" dirty="0">
                <a:latin typeface="Arial MT"/>
                <a:cs typeface="Arial MT"/>
              </a:rPr>
              <a:t>the </a:t>
            </a:r>
            <a:r>
              <a:rPr sz="1850" spc="-110" dirty="0">
                <a:latin typeface="Arial MT"/>
                <a:cs typeface="Arial MT"/>
              </a:rPr>
              <a:t>connection</a:t>
            </a:r>
            <a:r>
              <a:rPr sz="1850" spc="60" dirty="0">
                <a:latin typeface="Arial MT"/>
                <a:cs typeface="Arial MT"/>
              </a:rPr>
              <a:t> </a:t>
            </a:r>
            <a:r>
              <a:rPr sz="1850" spc="-40" dirty="0">
                <a:solidFill>
                  <a:srgbClr val="0F0F0F"/>
                </a:solidFill>
                <a:latin typeface="Arial MT"/>
                <a:cs typeface="Arial MT"/>
              </a:rPr>
              <a:t>is </a:t>
            </a:r>
            <a:r>
              <a:rPr sz="1800" spc="-25" dirty="0">
                <a:latin typeface="Arial MT"/>
                <a:cs typeface="Arial MT"/>
              </a:rPr>
              <a:t>not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cecure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45" dirty="0">
                <a:latin typeface="Arial MT"/>
                <a:cs typeface="Arial MT"/>
              </a:rPr>
              <a:t>(No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30" dirty="0">
                <a:latin typeface="Arial MT"/>
                <a:cs typeface="Arial MT"/>
              </a:rPr>
              <a:t>HTTPS).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209572" y="4896202"/>
            <a:ext cx="2281555" cy="80581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9525" algn="just">
              <a:lnSpc>
                <a:spcPct val="103600"/>
              </a:lnSpc>
              <a:spcBef>
                <a:spcPts val="25"/>
              </a:spcBef>
            </a:pPr>
            <a:r>
              <a:rPr sz="1600" spc="-145" dirty="0" smtClean="0">
                <a:latin typeface="Arial MT"/>
                <a:cs typeface="Arial MT"/>
              </a:rPr>
              <a:t>Th</a:t>
            </a:r>
            <a:r>
              <a:rPr lang="en-US" sz="1600" spc="-145" dirty="0" smtClean="0">
                <a:latin typeface="Arial MT"/>
                <a:cs typeface="Arial MT"/>
              </a:rPr>
              <a:t>e</a:t>
            </a:r>
            <a:r>
              <a:rPr sz="1600" spc="30" dirty="0" smtClean="0">
                <a:latin typeface="Arial MT"/>
                <a:cs typeface="Arial MT"/>
              </a:rPr>
              <a:t> </a:t>
            </a:r>
            <a:r>
              <a:rPr sz="1600" spc="-45" dirty="0">
                <a:latin typeface="Arial MT"/>
                <a:cs typeface="Arial MT"/>
              </a:rPr>
              <a:t>Company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logo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might </a:t>
            </a:r>
            <a:r>
              <a:rPr sz="1700" dirty="0">
                <a:latin typeface="Arial MT"/>
                <a:cs typeface="Arial MT"/>
              </a:rPr>
              <a:t>be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slightly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distorted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or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a </a:t>
            </a:r>
            <a:r>
              <a:rPr sz="1700" spc="-35" dirty="0">
                <a:latin typeface="Arial MT"/>
                <a:cs typeface="Arial MT"/>
              </a:rPr>
              <a:t>low-</a:t>
            </a:r>
            <a:r>
              <a:rPr sz="1700" spc="-30" dirty="0">
                <a:latin typeface="Arial MT"/>
                <a:cs typeface="Arial MT"/>
              </a:rPr>
              <a:t>resolution</a:t>
            </a:r>
            <a:r>
              <a:rPr sz="1700" spc="-10" dirty="0">
                <a:latin typeface="Arial MT"/>
                <a:cs typeface="Arial MT"/>
              </a:rPr>
              <a:t> image.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207845" y="7863064"/>
            <a:ext cx="2495550" cy="82740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7780" marR="5080" indent="-5715">
              <a:lnSpc>
                <a:spcPts val="2100"/>
              </a:lnSpc>
              <a:spcBef>
                <a:spcPts val="155"/>
              </a:spcBef>
            </a:pPr>
            <a:r>
              <a:rPr sz="1700" spc="-50" dirty="0">
                <a:latin typeface="Arial MT"/>
                <a:cs typeface="Arial MT"/>
              </a:rPr>
              <a:t>Links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120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’Privacy</a:t>
            </a:r>
            <a:r>
              <a:rPr sz="1700" spc="10" dirty="0">
                <a:latin typeface="Arial MT"/>
                <a:cs typeface="Arial MT"/>
              </a:rPr>
              <a:t> </a:t>
            </a:r>
            <a:r>
              <a:rPr sz="1700" spc="-40" dirty="0">
                <a:latin typeface="Arial MT"/>
                <a:cs typeface="Arial MT"/>
              </a:rPr>
              <a:t>Policy'</a:t>
            </a:r>
            <a:r>
              <a:rPr sz="1700" spc="1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or </a:t>
            </a:r>
            <a:r>
              <a:rPr sz="1850" spc="-105" dirty="0">
                <a:latin typeface="Arial MT"/>
                <a:cs typeface="Arial MT"/>
              </a:rPr>
              <a:t>'Contact</a:t>
            </a:r>
            <a:r>
              <a:rPr sz="1850" spc="65" dirty="0">
                <a:latin typeface="Arial MT"/>
                <a:cs typeface="Arial MT"/>
              </a:rPr>
              <a:t> </a:t>
            </a:r>
            <a:r>
              <a:rPr sz="1850" spc="-145" dirty="0">
                <a:latin typeface="Arial MT"/>
                <a:cs typeface="Arial MT"/>
              </a:rPr>
              <a:t>Us’</a:t>
            </a:r>
            <a:r>
              <a:rPr sz="1850" spc="-165" dirty="0">
                <a:latin typeface="Arial MT"/>
                <a:cs typeface="Arial MT"/>
              </a:rPr>
              <a:t> </a:t>
            </a:r>
            <a:r>
              <a:rPr sz="1850" spc="-110" dirty="0">
                <a:latin typeface="Arial MT"/>
                <a:cs typeface="Arial MT"/>
              </a:rPr>
              <a:t>might</a:t>
            </a:r>
            <a:r>
              <a:rPr sz="1850" spc="-40" dirty="0">
                <a:latin typeface="Arial MT"/>
                <a:cs typeface="Arial MT"/>
              </a:rPr>
              <a:t> </a:t>
            </a:r>
            <a:r>
              <a:rPr sz="1850" spc="-125" dirty="0">
                <a:latin typeface="Arial MT"/>
                <a:cs typeface="Arial MT"/>
              </a:rPr>
              <a:t>be</a:t>
            </a:r>
            <a:r>
              <a:rPr sz="1850" spc="-95" dirty="0">
                <a:latin typeface="Arial MT"/>
                <a:cs typeface="Arial MT"/>
              </a:rPr>
              <a:t> </a:t>
            </a:r>
            <a:r>
              <a:rPr sz="1850" spc="-114" dirty="0">
                <a:latin typeface="Arial MT"/>
                <a:cs typeface="Arial MT"/>
              </a:rPr>
              <a:t>dead </a:t>
            </a:r>
            <a:r>
              <a:rPr sz="1850" spc="-90" dirty="0">
                <a:latin typeface="Arial MT"/>
                <a:cs typeface="Arial MT"/>
              </a:rPr>
              <a:t>or</a:t>
            </a:r>
            <a:r>
              <a:rPr sz="1850" spc="-35" dirty="0">
                <a:latin typeface="Arial MT"/>
                <a:cs typeface="Arial MT"/>
              </a:rPr>
              <a:t> </a:t>
            </a:r>
            <a:r>
              <a:rPr sz="1850" spc="-105" dirty="0">
                <a:latin typeface="Arial MT"/>
                <a:cs typeface="Arial MT"/>
              </a:rPr>
              <a:t>just</a:t>
            </a:r>
            <a:r>
              <a:rPr sz="1850" spc="-100" dirty="0">
                <a:latin typeface="Arial MT"/>
                <a:cs typeface="Arial MT"/>
              </a:rPr>
              <a:t> </a:t>
            </a:r>
            <a:r>
              <a:rPr sz="1850" spc="-105" dirty="0">
                <a:latin typeface="Arial MT"/>
                <a:cs typeface="Arial MT"/>
              </a:rPr>
              <a:t>refresh</a:t>
            </a:r>
            <a:r>
              <a:rPr sz="1850" spc="30" dirty="0">
                <a:latin typeface="Arial MT"/>
                <a:cs typeface="Arial MT"/>
              </a:rPr>
              <a:t> </a:t>
            </a:r>
            <a:r>
              <a:rPr sz="1850" spc="-120" dirty="0">
                <a:latin typeface="Arial MT"/>
                <a:cs typeface="Arial MT"/>
              </a:rPr>
              <a:t>the</a:t>
            </a:r>
            <a:r>
              <a:rPr sz="1850" spc="-5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page.</a:t>
            </a:r>
            <a:endParaRPr sz="1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6400" y="2971800"/>
            <a:ext cx="3454400" cy="3352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400" y="787400"/>
            <a:ext cx="1371600" cy="5969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52829" y="483305"/>
            <a:ext cx="9742170" cy="1985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7720"/>
              </a:lnSpc>
              <a:spcBef>
                <a:spcPts val="95"/>
              </a:spcBef>
              <a:tabLst>
                <a:tab pos="7105650" algn="l"/>
              </a:tabLst>
            </a:pPr>
            <a:r>
              <a:rPr sz="6950" spc="-110" dirty="0" smtClean="0">
                <a:solidFill>
                  <a:srgbClr val="365275"/>
                </a:solidFill>
                <a:latin typeface="Arial MT"/>
                <a:cs typeface="Arial MT"/>
              </a:rPr>
              <a:t>Technology</a:t>
            </a:r>
            <a:r>
              <a:rPr sz="6950" spc="-295" dirty="0" smtClean="0">
                <a:solidFill>
                  <a:srgbClr val="365275"/>
                </a:solidFill>
                <a:latin typeface="Arial MT"/>
                <a:cs typeface="Arial MT"/>
              </a:rPr>
              <a:t> </a:t>
            </a:r>
            <a:r>
              <a:rPr sz="6950" spc="75" dirty="0" smtClean="0">
                <a:solidFill>
                  <a:srgbClr val="344F72"/>
                </a:solidFill>
                <a:latin typeface="Arial MT"/>
                <a:cs typeface="Arial MT"/>
              </a:rPr>
              <a:t>is</a:t>
            </a:r>
            <a:r>
              <a:rPr sz="6950" dirty="0" smtClean="0">
                <a:solidFill>
                  <a:srgbClr val="344F72"/>
                </a:solidFill>
                <a:latin typeface="Arial MT"/>
                <a:cs typeface="Arial MT"/>
              </a:rPr>
              <a:t>	</a:t>
            </a:r>
            <a:r>
              <a:rPr sz="6950" spc="-85" dirty="0" smtClean="0">
                <a:solidFill>
                  <a:srgbClr val="344F77"/>
                </a:solidFill>
                <a:latin typeface="Arial MT"/>
                <a:cs typeface="Arial MT"/>
              </a:rPr>
              <a:t>Shield.</a:t>
            </a:r>
            <a:endParaRPr sz="6950" dirty="0" smtClean="0">
              <a:latin typeface="Arial MT"/>
              <a:cs typeface="Arial MT"/>
            </a:endParaRPr>
          </a:p>
          <a:p>
            <a:pPr marR="23495" algn="ctr">
              <a:lnSpc>
                <a:spcPts val="7720"/>
              </a:lnSpc>
            </a:pPr>
            <a:r>
              <a:rPr sz="6950" spc="-420" dirty="0" smtClean="0">
                <a:solidFill>
                  <a:srgbClr val="314F70"/>
                </a:solidFill>
                <a:latin typeface="Arial MT"/>
                <a:cs typeface="Arial MT"/>
              </a:rPr>
              <a:t>You</a:t>
            </a:r>
            <a:r>
              <a:rPr sz="6950" spc="-229" dirty="0" smtClean="0">
                <a:solidFill>
                  <a:srgbClr val="314F70"/>
                </a:solidFill>
                <a:latin typeface="Arial MT"/>
                <a:cs typeface="Arial MT"/>
              </a:rPr>
              <a:t> </a:t>
            </a:r>
            <a:r>
              <a:rPr sz="6950" spc="-155" dirty="0" smtClean="0">
                <a:solidFill>
                  <a:srgbClr val="314D75"/>
                </a:solidFill>
                <a:latin typeface="Arial MT"/>
                <a:cs typeface="Arial MT"/>
              </a:rPr>
              <a:t>Are</a:t>
            </a:r>
            <a:r>
              <a:rPr sz="6950" spc="-430" dirty="0" smtClean="0">
                <a:solidFill>
                  <a:srgbClr val="314D75"/>
                </a:solidFill>
                <a:latin typeface="Arial MT"/>
                <a:cs typeface="Arial MT"/>
              </a:rPr>
              <a:t> </a:t>
            </a:r>
            <a:r>
              <a:rPr sz="6950" spc="90" dirty="0" smtClean="0">
                <a:solidFill>
                  <a:srgbClr val="365277"/>
                </a:solidFill>
                <a:latin typeface="Arial MT"/>
                <a:cs typeface="Arial MT"/>
              </a:rPr>
              <a:t>the</a:t>
            </a:r>
            <a:r>
              <a:rPr sz="6950" spc="-505" dirty="0" smtClean="0">
                <a:solidFill>
                  <a:srgbClr val="365277"/>
                </a:solidFill>
                <a:latin typeface="Arial MT"/>
                <a:cs typeface="Arial MT"/>
              </a:rPr>
              <a:t> </a:t>
            </a:r>
            <a:r>
              <a:rPr sz="6950" spc="-55" dirty="0" smtClean="0">
                <a:solidFill>
                  <a:srgbClr val="314B70"/>
                </a:solidFill>
                <a:latin typeface="Arial MT"/>
                <a:cs typeface="Arial MT"/>
              </a:rPr>
              <a:t>Guardian.</a:t>
            </a:r>
            <a:endParaRPr sz="695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41026" y="7053085"/>
            <a:ext cx="13552805" cy="20281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17145" algn="ctr">
              <a:lnSpc>
                <a:spcPct val="100600"/>
              </a:lnSpc>
              <a:spcBef>
                <a:spcPts val="90"/>
              </a:spcBef>
            </a:pPr>
            <a:r>
              <a:rPr sz="3250" spc="-75" dirty="0">
                <a:latin typeface="Times New Roman"/>
                <a:cs typeface="Times New Roman"/>
              </a:rPr>
              <a:t>Our</a:t>
            </a:r>
            <a:r>
              <a:rPr sz="3250" spc="-130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security</a:t>
            </a:r>
            <a:r>
              <a:rPr sz="3250" spc="-195" dirty="0">
                <a:latin typeface="Times New Roman"/>
                <a:cs typeface="Times New Roman"/>
              </a:rPr>
              <a:t> </a:t>
            </a:r>
            <a:r>
              <a:rPr sz="3250" spc="-25" dirty="0">
                <a:latin typeface="Times New Roman"/>
                <a:cs typeface="Times New Roman"/>
              </a:rPr>
              <a:t>systems</a:t>
            </a:r>
            <a:r>
              <a:rPr sz="3250" spc="-175" dirty="0">
                <a:latin typeface="Times New Roman"/>
                <a:cs typeface="Times New Roman"/>
              </a:rPr>
              <a:t> </a:t>
            </a:r>
            <a:r>
              <a:rPr sz="3250" spc="-30" dirty="0">
                <a:latin typeface="Times New Roman"/>
                <a:cs typeface="Times New Roman"/>
              </a:rPr>
              <a:t>block</a:t>
            </a:r>
            <a:r>
              <a:rPr sz="3250" spc="-60" dirty="0">
                <a:latin typeface="Times New Roman"/>
                <a:cs typeface="Times New Roman"/>
              </a:rPr>
              <a:t> </a:t>
            </a:r>
            <a:r>
              <a:rPr sz="3250" spc="-50" dirty="0">
                <a:latin typeface="Times New Roman"/>
                <a:cs typeface="Times New Roman"/>
              </a:rPr>
              <a:t>millions</a:t>
            </a:r>
            <a:r>
              <a:rPr sz="3250" spc="-110" dirty="0">
                <a:latin typeface="Times New Roman"/>
                <a:cs typeface="Times New Roman"/>
              </a:rPr>
              <a:t> </a:t>
            </a:r>
            <a:r>
              <a:rPr sz="3250" spc="-55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3250" spc="-1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threats</a:t>
            </a:r>
            <a:r>
              <a:rPr sz="3250" spc="-135" dirty="0">
                <a:latin typeface="Times New Roman"/>
                <a:cs typeface="Times New Roman"/>
              </a:rPr>
              <a:t> </a:t>
            </a:r>
            <a:r>
              <a:rPr sz="3250" spc="-40" dirty="0">
                <a:latin typeface="Times New Roman"/>
                <a:cs typeface="Times New Roman"/>
              </a:rPr>
              <a:t>every</a:t>
            </a:r>
            <a:r>
              <a:rPr sz="3250" spc="-140" dirty="0">
                <a:latin typeface="Times New Roman"/>
                <a:cs typeface="Times New Roman"/>
              </a:rPr>
              <a:t> </a:t>
            </a:r>
            <a:r>
              <a:rPr sz="3250" spc="-45" dirty="0">
                <a:latin typeface="Times New Roman"/>
                <a:cs typeface="Times New Roman"/>
              </a:rPr>
              <a:t>year.</a:t>
            </a:r>
            <a:r>
              <a:rPr sz="3250" spc="-155" dirty="0">
                <a:latin typeface="Times New Roman"/>
                <a:cs typeface="Times New Roman"/>
              </a:rPr>
              <a:t> </a:t>
            </a:r>
            <a:r>
              <a:rPr sz="3250" spc="-165" dirty="0">
                <a:latin typeface="Times New Roman"/>
                <a:cs typeface="Times New Roman"/>
              </a:rPr>
              <a:t>But</a:t>
            </a:r>
            <a:r>
              <a:rPr sz="3250" spc="-6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sophisticated</a:t>
            </a:r>
            <a:r>
              <a:rPr sz="3250" spc="50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attacks </a:t>
            </a:r>
            <a:r>
              <a:rPr sz="3250" dirty="0">
                <a:latin typeface="Times New Roman"/>
                <a:cs typeface="Times New Roman"/>
              </a:rPr>
              <a:t>are</a:t>
            </a:r>
            <a:r>
              <a:rPr sz="3250" spc="-204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designed</a:t>
            </a:r>
            <a:r>
              <a:rPr sz="3250" spc="-13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to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spc="-60" dirty="0">
                <a:latin typeface="Times New Roman"/>
                <a:cs typeface="Times New Roman"/>
              </a:rPr>
              <a:t>bypass</a:t>
            </a:r>
            <a:r>
              <a:rPr sz="3250" spc="-9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them</a:t>
            </a:r>
            <a:r>
              <a:rPr sz="3250" spc="114" dirty="0">
                <a:latin typeface="Times New Roman"/>
                <a:cs typeface="Times New Roman"/>
              </a:rPr>
              <a:t> </a:t>
            </a:r>
            <a:r>
              <a:rPr sz="3250" spc="-165" dirty="0">
                <a:latin typeface="Times New Roman"/>
                <a:cs typeface="Times New Roman"/>
              </a:rPr>
              <a:t>by</a:t>
            </a:r>
            <a:r>
              <a:rPr sz="3250" spc="-9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targeting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spc="-105" dirty="0">
                <a:latin typeface="Times New Roman"/>
                <a:cs typeface="Times New Roman"/>
              </a:rPr>
              <a:t>you</a:t>
            </a:r>
            <a:r>
              <a:rPr sz="3250" spc="-100" dirty="0">
                <a:latin typeface="Times New Roman"/>
                <a:cs typeface="Times New Roman"/>
              </a:rPr>
              <a:t> </a:t>
            </a:r>
            <a:r>
              <a:rPr sz="3250" spc="-55" dirty="0">
                <a:latin typeface="Times New Roman"/>
                <a:cs typeface="Times New Roman"/>
              </a:rPr>
              <a:t>directly.</a:t>
            </a:r>
            <a:r>
              <a:rPr sz="3250" spc="-145" dirty="0">
                <a:latin typeface="Times New Roman"/>
                <a:cs typeface="Times New Roman"/>
              </a:rPr>
              <a:t> </a:t>
            </a:r>
            <a:r>
              <a:rPr sz="3250" spc="-204" dirty="0">
                <a:latin typeface="Times New Roman"/>
                <a:cs typeface="Times New Roman"/>
              </a:rPr>
              <a:t>Your</a:t>
            </a:r>
            <a:r>
              <a:rPr sz="3250" spc="-5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awareness</a:t>
            </a:r>
            <a:r>
              <a:rPr sz="3250" spc="-5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and</a:t>
            </a:r>
            <a:r>
              <a:rPr sz="3250" spc="-130" dirty="0">
                <a:latin typeface="Times New Roman"/>
                <a:cs typeface="Times New Roman"/>
              </a:rPr>
              <a:t> </a:t>
            </a:r>
            <a:r>
              <a:rPr sz="3250" spc="-25" dirty="0">
                <a:latin typeface="Times New Roman"/>
                <a:cs typeface="Times New Roman"/>
              </a:rPr>
              <a:t>vigilance </a:t>
            </a:r>
            <a:r>
              <a:rPr sz="3300" dirty="0">
                <a:latin typeface="Times New Roman"/>
                <a:cs typeface="Times New Roman"/>
              </a:rPr>
              <a:t>are</a:t>
            </a:r>
            <a:r>
              <a:rPr sz="3300" spc="-175" dirty="0">
                <a:latin typeface="Times New Roman"/>
                <a:cs typeface="Times New Roman"/>
              </a:rPr>
              <a:t> </a:t>
            </a:r>
            <a:r>
              <a:rPr sz="3300" dirty="0">
                <a:latin typeface="Times New Roman"/>
                <a:cs typeface="Times New Roman"/>
              </a:rPr>
              <a:t>the</a:t>
            </a:r>
            <a:r>
              <a:rPr sz="3300" spc="-80" dirty="0">
                <a:latin typeface="Times New Roman"/>
                <a:cs typeface="Times New Roman"/>
              </a:rPr>
              <a:t> </a:t>
            </a:r>
            <a:r>
              <a:rPr sz="3300" spc="-50" dirty="0">
                <a:latin typeface="Times New Roman"/>
                <a:cs typeface="Times New Roman"/>
              </a:rPr>
              <a:t>most</a:t>
            </a:r>
            <a:r>
              <a:rPr sz="3300" spc="-114" dirty="0">
                <a:latin typeface="Times New Roman"/>
                <a:cs typeface="Times New Roman"/>
              </a:rPr>
              <a:t> </a:t>
            </a:r>
            <a:r>
              <a:rPr sz="3300" spc="-30" dirty="0">
                <a:latin typeface="Times New Roman"/>
                <a:cs typeface="Times New Roman"/>
              </a:rPr>
              <a:t>critical</a:t>
            </a:r>
            <a:r>
              <a:rPr sz="3300" spc="-120" dirty="0">
                <a:latin typeface="Times New Roman"/>
                <a:cs typeface="Times New Roman"/>
              </a:rPr>
              <a:t> </a:t>
            </a:r>
            <a:r>
              <a:rPr sz="3300" spc="-25" dirty="0">
                <a:latin typeface="Times New Roman"/>
                <a:cs typeface="Times New Roman"/>
              </a:rPr>
              <a:t>components</a:t>
            </a:r>
            <a:r>
              <a:rPr sz="3300" spc="65" dirty="0">
                <a:latin typeface="Times New Roman"/>
                <a:cs typeface="Times New Roman"/>
              </a:rPr>
              <a:t> </a:t>
            </a:r>
            <a:r>
              <a:rPr sz="3300" spc="-95" dirty="0">
                <a:latin typeface="Times New Roman"/>
                <a:cs typeface="Times New Roman"/>
              </a:rPr>
              <a:t>of </a:t>
            </a:r>
            <a:r>
              <a:rPr sz="3300" dirty="0">
                <a:latin typeface="Times New Roman"/>
                <a:cs typeface="Times New Roman"/>
              </a:rPr>
              <a:t>our</a:t>
            </a:r>
            <a:r>
              <a:rPr sz="3300" spc="-150" dirty="0">
                <a:latin typeface="Times New Roman"/>
                <a:cs typeface="Times New Roman"/>
              </a:rPr>
              <a:t> </a:t>
            </a:r>
            <a:r>
              <a:rPr sz="3300" spc="-10" dirty="0">
                <a:latin typeface="Times New Roman"/>
                <a:cs typeface="Times New Roman"/>
              </a:rPr>
              <a:t>defense.</a:t>
            </a:r>
            <a:endParaRPr sz="3300">
              <a:latin typeface="Times New Roman"/>
              <a:cs typeface="Times New Roman"/>
            </a:endParaRPr>
          </a:p>
          <a:p>
            <a:pPr marL="5715" algn="ctr">
              <a:lnSpc>
                <a:spcPct val="100000"/>
              </a:lnSpc>
              <a:spcBef>
                <a:spcPts val="40"/>
              </a:spcBef>
            </a:pPr>
            <a:r>
              <a:rPr sz="3250" spc="-80" dirty="0">
                <a:latin typeface="Times New Roman"/>
                <a:cs typeface="Times New Roman"/>
              </a:rPr>
              <a:t>This</a:t>
            </a:r>
            <a:r>
              <a:rPr sz="3250" spc="-125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is</a:t>
            </a:r>
            <a:r>
              <a:rPr sz="3250" spc="-21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your</a:t>
            </a:r>
            <a:r>
              <a:rPr sz="3250" spc="-140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playbook.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07384" y="9439980"/>
            <a:ext cx="1235710" cy="2154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endParaRPr sz="13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3429000"/>
            <a:ext cx="1993900" cy="1993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59300" y="3429000"/>
            <a:ext cx="1993900" cy="1993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47000" y="3429000"/>
            <a:ext cx="1981200" cy="1993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22000" y="3429000"/>
            <a:ext cx="1981200" cy="1993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185900" y="3429000"/>
            <a:ext cx="1841500" cy="19939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300" rIns="0" bIns="0" rtlCol="0">
            <a:spAutoFit/>
          </a:bodyPr>
          <a:lstStyle/>
          <a:p>
            <a:pPr marL="440690" algn="ctr">
              <a:lnSpc>
                <a:spcPts val="8285"/>
              </a:lnSpc>
              <a:spcBef>
                <a:spcPts val="135"/>
              </a:spcBef>
            </a:pPr>
            <a:r>
              <a:rPr sz="7600" spc="-530" dirty="0">
                <a:solidFill>
                  <a:srgbClr val="36547C"/>
                </a:solidFill>
                <a:latin typeface="Arial MT"/>
                <a:cs typeface="Arial MT"/>
              </a:rPr>
              <a:t>Your</a:t>
            </a:r>
            <a:r>
              <a:rPr sz="7600" spc="-305" dirty="0">
                <a:solidFill>
                  <a:srgbClr val="36547C"/>
                </a:solidFill>
                <a:latin typeface="Arial MT"/>
                <a:cs typeface="Arial MT"/>
              </a:rPr>
              <a:t> </a:t>
            </a:r>
            <a:r>
              <a:rPr sz="7600" spc="-330" dirty="0">
                <a:solidFill>
                  <a:srgbClr val="345277"/>
                </a:solidFill>
                <a:latin typeface="Arial MT"/>
                <a:cs typeface="Arial MT"/>
              </a:rPr>
              <a:t>Defence</a:t>
            </a:r>
            <a:r>
              <a:rPr sz="7600" spc="-270" dirty="0">
                <a:solidFill>
                  <a:srgbClr val="345277"/>
                </a:solidFill>
                <a:latin typeface="Arial MT"/>
                <a:cs typeface="Arial MT"/>
              </a:rPr>
              <a:t> </a:t>
            </a:r>
            <a:r>
              <a:rPr sz="7600" spc="-280" dirty="0">
                <a:solidFill>
                  <a:srgbClr val="334B75"/>
                </a:solidFill>
                <a:latin typeface="Arial MT"/>
                <a:cs typeface="Arial MT"/>
              </a:rPr>
              <a:t>Playbook:</a:t>
            </a:r>
            <a:endParaRPr sz="7600">
              <a:latin typeface="Arial MT"/>
              <a:cs typeface="Arial MT"/>
            </a:endParaRPr>
          </a:p>
          <a:p>
            <a:pPr marL="440690" algn="ctr">
              <a:lnSpc>
                <a:spcPts val="8165"/>
              </a:lnSpc>
            </a:pPr>
            <a:r>
              <a:rPr sz="7500" spc="-265" dirty="0">
                <a:solidFill>
                  <a:srgbClr val="38547C"/>
                </a:solidFill>
                <a:latin typeface="Arial MT"/>
                <a:cs typeface="Arial MT"/>
              </a:rPr>
              <a:t>The</a:t>
            </a:r>
            <a:r>
              <a:rPr sz="7500" spc="-575" dirty="0">
                <a:solidFill>
                  <a:srgbClr val="38547C"/>
                </a:solidFill>
                <a:latin typeface="Arial MT"/>
                <a:cs typeface="Arial MT"/>
              </a:rPr>
              <a:t> </a:t>
            </a:r>
            <a:r>
              <a:rPr sz="7500" spc="-180" dirty="0">
                <a:solidFill>
                  <a:srgbClr val="34527E"/>
                </a:solidFill>
                <a:latin typeface="Arial MT"/>
                <a:cs typeface="Arial MT"/>
              </a:rPr>
              <a:t>5-</a:t>
            </a:r>
            <a:r>
              <a:rPr sz="7500" spc="-220" dirty="0">
                <a:solidFill>
                  <a:srgbClr val="34527E"/>
                </a:solidFill>
                <a:latin typeface="Arial MT"/>
                <a:cs typeface="Arial MT"/>
              </a:rPr>
              <a:t>Second</a:t>
            </a:r>
            <a:r>
              <a:rPr sz="7500" spc="-300" dirty="0">
                <a:solidFill>
                  <a:srgbClr val="34527E"/>
                </a:solidFill>
                <a:latin typeface="Arial MT"/>
                <a:cs typeface="Arial MT"/>
              </a:rPr>
              <a:t> </a:t>
            </a:r>
            <a:r>
              <a:rPr sz="7500" spc="-409" dirty="0">
                <a:solidFill>
                  <a:srgbClr val="335279"/>
                </a:solidFill>
                <a:latin typeface="Arial MT"/>
                <a:cs typeface="Arial MT"/>
              </a:rPr>
              <a:t>Scan</a:t>
            </a:r>
            <a:endParaRPr sz="7500">
              <a:latin typeface="Arial MT"/>
              <a:cs typeface="Arial MT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862543"/>
              </p:ext>
            </p:extLst>
          </p:nvPr>
        </p:nvGraphicFramePr>
        <p:xfrm>
          <a:off x="1058574" y="5754701"/>
          <a:ext cx="15405732" cy="26022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5760"/>
                <a:gridCol w="3143885"/>
                <a:gridCol w="3180079"/>
                <a:gridCol w="3202304"/>
                <a:gridCol w="2973704"/>
              </a:tblGrid>
              <a:tr h="486409">
                <a:tc>
                  <a:txBody>
                    <a:bodyPr/>
                    <a:lstStyle/>
                    <a:p>
                      <a:pPr marL="546100">
                        <a:lnSpc>
                          <a:spcPts val="3425"/>
                        </a:lnSpc>
                      </a:pPr>
                      <a:r>
                        <a:rPr sz="2950" spc="195" dirty="0">
                          <a:solidFill>
                            <a:srgbClr val="38506D"/>
                          </a:solidFill>
                          <a:latin typeface="Cambria"/>
                          <a:cs typeface="Cambria"/>
                        </a:rPr>
                        <a:t>SOURCE</a:t>
                      </a:r>
                      <a:endParaRPr sz="29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3425"/>
                        </a:lnSpc>
                      </a:pPr>
                      <a:r>
                        <a:rPr sz="2950" spc="45" dirty="0">
                          <a:solidFill>
                            <a:srgbClr val="3B5270"/>
                          </a:solidFill>
                          <a:latin typeface="Cambria"/>
                          <a:cs typeface="Cambria"/>
                        </a:rPr>
                        <a:t>TONE</a:t>
                      </a:r>
                      <a:endParaRPr sz="29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3425"/>
                        </a:lnSpc>
                      </a:pPr>
                      <a:r>
                        <a:rPr sz="2950" spc="60" dirty="0">
                          <a:solidFill>
                            <a:srgbClr val="31496B"/>
                          </a:solidFill>
                          <a:latin typeface="Cambria"/>
                          <a:cs typeface="Cambria"/>
                        </a:rPr>
                        <a:t>LINKS</a:t>
                      </a:r>
                      <a:endParaRPr sz="29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3425"/>
                        </a:lnSpc>
                      </a:pPr>
                      <a:r>
                        <a:rPr sz="2950" spc="-10" dirty="0">
                          <a:solidFill>
                            <a:srgbClr val="314869"/>
                          </a:solidFill>
                          <a:latin typeface="Cambria"/>
                          <a:cs typeface="Cambria"/>
                        </a:rPr>
                        <a:t>DETAILS</a:t>
                      </a:r>
                      <a:endParaRPr sz="29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0730">
                        <a:lnSpc>
                          <a:spcPts val="3425"/>
                        </a:lnSpc>
                      </a:pPr>
                      <a:r>
                        <a:rPr sz="2950" spc="105" dirty="0">
                          <a:solidFill>
                            <a:srgbClr val="2D4666"/>
                          </a:solidFill>
                          <a:latin typeface="Cambria"/>
                          <a:cs typeface="Cambria"/>
                        </a:rPr>
                        <a:t>REQUEST</a:t>
                      </a:r>
                      <a:endParaRPr sz="29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</a:tr>
              <a:tr h="399415">
                <a:tc>
                  <a:txBody>
                    <a:bodyPr/>
                    <a:lstStyle/>
                    <a:p>
                      <a:pPr marL="141605">
                        <a:lnSpc>
                          <a:spcPts val="2840"/>
                        </a:lnSpc>
                        <a:spcBef>
                          <a:spcPts val="204"/>
                        </a:spcBef>
                      </a:pPr>
                      <a:r>
                        <a:rPr sz="2500" spc="-40" dirty="0">
                          <a:latin typeface="Cambria"/>
                          <a:cs typeface="Cambria"/>
                        </a:rPr>
                        <a:t>Do</a:t>
                      </a:r>
                      <a:r>
                        <a:rPr sz="2500" spc="-1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dirty="0">
                          <a:latin typeface="Cambria"/>
                          <a:cs typeface="Cambria"/>
                        </a:rPr>
                        <a:t>I</a:t>
                      </a:r>
                      <a:r>
                        <a:rPr sz="2500" spc="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90" dirty="0">
                          <a:latin typeface="Cambria"/>
                          <a:cs typeface="Cambria"/>
                        </a:rPr>
                        <a:t>recognize</a:t>
                      </a:r>
                      <a:r>
                        <a:rPr sz="2500" spc="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25" dirty="0">
                          <a:latin typeface="Cambria"/>
                          <a:cs typeface="Cambria"/>
                        </a:rPr>
                        <a:t>the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ts val="2840"/>
                        </a:lnSpc>
                        <a:spcBef>
                          <a:spcPts val="204"/>
                        </a:spcBef>
                      </a:pPr>
                      <a:r>
                        <a:rPr sz="25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2500" spc="-1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6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2500" spc="-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70" dirty="0">
                          <a:latin typeface="Cambria"/>
                          <a:cs typeface="Cambria"/>
                        </a:rPr>
                        <a:t>creating</a:t>
                      </a:r>
                      <a:r>
                        <a:rPr sz="25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50" dirty="0">
                          <a:solidFill>
                            <a:srgbClr val="0A0A0A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ts val="2840"/>
                        </a:lnSpc>
                        <a:spcBef>
                          <a:spcPts val="204"/>
                        </a:spcBef>
                      </a:pPr>
                      <a:r>
                        <a:rPr sz="2500" dirty="0">
                          <a:latin typeface="Cambria"/>
                          <a:cs typeface="Cambria"/>
                        </a:rPr>
                        <a:t>If</a:t>
                      </a:r>
                      <a:r>
                        <a:rPr sz="2500" spc="-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dirty="0">
                          <a:latin typeface="Cambria"/>
                          <a:cs typeface="Cambria"/>
                        </a:rPr>
                        <a:t>I</a:t>
                      </a:r>
                      <a:r>
                        <a:rPr sz="25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20" dirty="0">
                          <a:latin typeface="Cambria"/>
                          <a:cs typeface="Cambria"/>
                        </a:rPr>
                        <a:t>hover</a:t>
                      </a:r>
                      <a:r>
                        <a:rPr sz="2500" spc="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20" dirty="0">
                          <a:latin typeface="Cambria"/>
                          <a:cs typeface="Cambria"/>
                        </a:rPr>
                        <a:t>over</a:t>
                      </a:r>
                      <a:r>
                        <a:rPr sz="2500" spc="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25" dirty="0">
                          <a:latin typeface="Cambria"/>
                          <a:cs typeface="Cambria"/>
                        </a:rPr>
                        <a:t>the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R="240665" algn="r">
                        <a:lnSpc>
                          <a:spcPts val="2840"/>
                        </a:lnSpc>
                        <a:spcBef>
                          <a:spcPts val="204"/>
                        </a:spcBef>
                      </a:pPr>
                      <a:r>
                        <a:rPr sz="2500" spc="-110" dirty="0">
                          <a:latin typeface="Cambria"/>
                          <a:cs typeface="Cambria"/>
                        </a:rPr>
                        <a:t>Are</a:t>
                      </a:r>
                      <a:r>
                        <a:rPr sz="25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85" dirty="0">
                          <a:latin typeface="Cambria"/>
                          <a:cs typeface="Cambria"/>
                        </a:rPr>
                        <a:t>there</a:t>
                      </a:r>
                      <a:r>
                        <a:rPr sz="25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unexpected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701040">
                        <a:lnSpc>
                          <a:spcPts val="2840"/>
                        </a:lnSpc>
                        <a:spcBef>
                          <a:spcPts val="204"/>
                        </a:spcBef>
                      </a:pPr>
                      <a:r>
                        <a:rPr sz="25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2500" spc="-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8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25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75" dirty="0">
                          <a:latin typeface="Cambria"/>
                          <a:cs typeface="Cambria"/>
                        </a:rPr>
                        <a:t>asking</a:t>
                      </a:r>
                      <a:r>
                        <a:rPr sz="25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25" dirty="0">
                          <a:latin typeface="Cambria"/>
                          <a:cs typeface="Cambria"/>
                        </a:rPr>
                        <a:t>for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26034" marB="0"/>
                </a:tc>
              </a:tr>
              <a:tr h="339725">
                <a:tc>
                  <a:txBody>
                    <a:bodyPr/>
                    <a:lstStyle/>
                    <a:p>
                      <a:pPr marL="31750">
                        <a:lnSpc>
                          <a:spcPts val="2575"/>
                        </a:lnSpc>
                      </a:pPr>
                      <a:r>
                        <a:rPr sz="2500" spc="-110" dirty="0">
                          <a:latin typeface="Cambria"/>
                          <a:cs typeface="Cambria"/>
                        </a:rPr>
                        <a:t>sender?</a:t>
                      </a:r>
                      <a:r>
                        <a:rPr sz="2500" spc="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dirty="0">
                          <a:latin typeface="Cambria"/>
                          <a:cs typeface="Cambria"/>
                        </a:rPr>
                        <a:t>Is</a:t>
                      </a:r>
                      <a:r>
                        <a:rPr sz="2500" spc="-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00" dirty="0">
                          <a:latin typeface="Cambria"/>
                          <a:cs typeface="Cambria"/>
                        </a:rPr>
                        <a:t>the</a:t>
                      </a:r>
                      <a:r>
                        <a:rPr sz="25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email</a:t>
                      </a:r>
                      <a:endParaRPr sz="25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ts val="2575"/>
                        </a:lnSpc>
                      </a:pPr>
                      <a:r>
                        <a:rPr sz="2500" spc="-110" dirty="0">
                          <a:latin typeface="Cambria"/>
                          <a:cs typeface="Cambria"/>
                        </a:rPr>
                        <a:t>strong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00" dirty="0">
                          <a:latin typeface="Cambria"/>
                          <a:cs typeface="Cambria"/>
                        </a:rPr>
                        <a:t>emotion</a:t>
                      </a:r>
                      <a:r>
                        <a:rPr sz="25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20" dirty="0">
                          <a:latin typeface="Cambria"/>
                          <a:cs typeface="Cambria"/>
                        </a:rPr>
                        <a:t>like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2390" algn="ctr">
                        <a:lnSpc>
                          <a:spcPts val="2575"/>
                        </a:lnSpc>
                      </a:pPr>
                      <a:r>
                        <a:rPr sz="2500" spc="-30" dirty="0">
                          <a:latin typeface="Cambria"/>
                          <a:cs typeface="Cambria"/>
                        </a:rPr>
                        <a:t>links,</a:t>
                      </a:r>
                      <a:r>
                        <a:rPr sz="2500" spc="-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14" dirty="0">
                          <a:latin typeface="Cambria"/>
                          <a:cs typeface="Cambria"/>
                        </a:rPr>
                        <a:t>do</a:t>
                      </a:r>
                      <a:r>
                        <a:rPr sz="25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70" dirty="0">
                          <a:latin typeface="Cambria"/>
                          <a:cs typeface="Cambria"/>
                        </a:rPr>
                        <a:t>they</a:t>
                      </a:r>
                      <a:r>
                        <a:rPr sz="25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35" dirty="0">
                          <a:latin typeface="Cambria"/>
                          <a:cs typeface="Cambria"/>
                        </a:rPr>
                        <a:t>go</a:t>
                      </a:r>
                      <a:r>
                        <a:rPr sz="25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75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25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50" dirty="0">
                          <a:solidFill>
                            <a:srgbClr val="080808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5495">
                        <a:lnSpc>
                          <a:spcPts val="2575"/>
                        </a:lnSpc>
                      </a:pPr>
                      <a:r>
                        <a:rPr sz="2500" spc="-10" dirty="0">
                          <a:latin typeface="Cambria"/>
                          <a:cs typeface="Cambria"/>
                        </a:rPr>
                        <a:t>attachments,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ts val="2575"/>
                        </a:lnSpc>
                      </a:pPr>
                      <a:r>
                        <a:rPr sz="2500" spc="-90" dirty="0">
                          <a:latin typeface="Cambria"/>
                          <a:cs typeface="Cambria"/>
                        </a:rPr>
                        <a:t>sensitive</a:t>
                      </a:r>
                      <a:r>
                        <a:rPr sz="25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information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</a:tr>
              <a:tr h="336550">
                <a:tc>
                  <a:txBody>
                    <a:bodyPr/>
                    <a:lstStyle/>
                    <a:p>
                      <a:pPr marL="71755">
                        <a:lnSpc>
                          <a:spcPts val="2550"/>
                        </a:lnSpc>
                      </a:pPr>
                      <a:r>
                        <a:rPr sz="2500" spc="-100" dirty="0">
                          <a:latin typeface="Cambria"/>
                          <a:cs typeface="Cambria"/>
                        </a:rPr>
                        <a:t>address</a:t>
                      </a:r>
                      <a:r>
                        <a:rPr sz="25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legitimate?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ts val="2550"/>
                        </a:lnSpc>
                      </a:pPr>
                      <a:r>
                        <a:rPr sz="2500" spc="-75" dirty="0">
                          <a:latin typeface="Cambria"/>
                          <a:cs typeface="Cambria"/>
                        </a:rPr>
                        <a:t>urgency,</a:t>
                      </a:r>
                      <a:r>
                        <a:rPr sz="25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70" dirty="0">
                          <a:latin typeface="Cambria"/>
                          <a:cs typeface="Cambria"/>
                        </a:rPr>
                        <a:t>fear,</a:t>
                      </a:r>
                      <a:r>
                        <a:rPr sz="25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25" dirty="0">
                          <a:latin typeface="Cambria"/>
                          <a:cs typeface="Cambria"/>
                        </a:rPr>
                        <a:t>or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ts val="2550"/>
                        </a:lnSpc>
                      </a:pPr>
                      <a:r>
                        <a:rPr sz="2500" spc="-114" dirty="0">
                          <a:latin typeface="Cambria"/>
                          <a:cs typeface="Cambria"/>
                        </a:rPr>
                        <a:t>trusted</a:t>
                      </a:r>
                      <a:r>
                        <a:rPr sz="2500" spc="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25" dirty="0">
                          <a:latin typeface="Cambria"/>
                          <a:cs typeface="Cambria"/>
                        </a:rPr>
                        <a:t>and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4160" algn="r">
                        <a:lnSpc>
                          <a:spcPts val="2550"/>
                        </a:lnSpc>
                      </a:pPr>
                      <a:r>
                        <a:rPr sz="2500" spc="-70" dirty="0">
                          <a:latin typeface="Cambria"/>
                          <a:cs typeface="Cambria"/>
                        </a:rPr>
                        <a:t>spelling </a:t>
                      </a:r>
                      <a:r>
                        <a:rPr sz="2500" spc="-85" dirty="0">
                          <a:latin typeface="Cambria"/>
                          <a:cs typeface="Cambria"/>
                        </a:rPr>
                        <a:t>mistakes,</a:t>
                      </a:r>
                      <a:r>
                        <a:rPr sz="2500" spc="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25" dirty="0">
                          <a:latin typeface="Cambria"/>
                          <a:cs typeface="Cambria"/>
                        </a:rPr>
                        <a:t>or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550"/>
                        </a:lnSpc>
                      </a:pPr>
                      <a:r>
                        <a:rPr sz="2500" spc="-120" dirty="0">
                          <a:latin typeface="Cambria"/>
                          <a:cs typeface="Cambria"/>
                        </a:rPr>
                        <a:t>(passwords,</a:t>
                      </a:r>
                      <a:r>
                        <a:rPr sz="2500" spc="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financial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</a:tr>
              <a:tr h="339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2575"/>
                        </a:lnSpc>
                      </a:pPr>
                      <a:r>
                        <a:rPr sz="2500" spc="-10" dirty="0">
                          <a:latin typeface="Cambria"/>
                          <a:cs typeface="Cambria"/>
                        </a:rPr>
                        <a:t>excitement?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135" algn="ctr">
                        <a:lnSpc>
                          <a:spcPts val="2575"/>
                        </a:lnSpc>
                      </a:pPr>
                      <a:r>
                        <a:rPr sz="2500" spc="-85" dirty="0">
                          <a:latin typeface="Cambria"/>
                          <a:cs typeface="Cambria"/>
                        </a:rPr>
                        <a:t>expected</a:t>
                      </a:r>
                      <a:r>
                        <a:rPr sz="25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25" dirty="0">
                          <a:latin typeface="Cambria"/>
                          <a:cs typeface="Cambria"/>
                        </a:rPr>
                        <a:t>web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7834">
                        <a:lnSpc>
                          <a:spcPts val="2575"/>
                        </a:lnSpc>
                      </a:pPr>
                      <a:r>
                        <a:rPr sz="2500" spc="-70" dirty="0">
                          <a:latin typeface="Cambria"/>
                          <a:cs typeface="Cambria"/>
                        </a:rPr>
                        <a:t>generic</a:t>
                      </a:r>
                      <a:r>
                        <a:rPr sz="25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greetings?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03580">
                        <a:lnSpc>
                          <a:spcPts val="2575"/>
                        </a:lnSpc>
                      </a:pPr>
                      <a:r>
                        <a:rPr sz="2500" spc="-130" dirty="0">
                          <a:latin typeface="Cambria"/>
                          <a:cs typeface="Cambria"/>
                        </a:rPr>
                        <a:t>data)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95" dirty="0">
                          <a:latin typeface="Cambria"/>
                          <a:cs typeface="Cambria"/>
                        </a:rPr>
                        <a:t>or</a:t>
                      </a:r>
                      <a:r>
                        <a:rPr sz="2500" spc="-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45" dirty="0">
                          <a:latin typeface="Cambria"/>
                          <a:cs typeface="Cambria"/>
                        </a:rPr>
                        <a:t>for </a:t>
                      </a:r>
                      <a:r>
                        <a:rPr sz="2500" spc="-25" dirty="0">
                          <a:latin typeface="Cambria"/>
                          <a:cs typeface="Cambria"/>
                        </a:rPr>
                        <a:t>an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 algn="ctr">
                        <a:lnSpc>
                          <a:spcPts val="2600"/>
                        </a:lnSpc>
                      </a:pPr>
                      <a:r>
                        <a:rPr sz="2500" spc="-10" dirty="0">
                          <a:latin typeface="Cambria"/>
                          <a:cs typeface="Cambria"/>
                        </a:rPr>
                        <a:t>address?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3030" algn="r">
                        <a:lnSpc>
                          <a:spcPts val="2600"/>
                        </a:lnSpc>
                      </a:pPr>
                      <a:r>
                        <a:rPr sz="2500" spc="-65" dirty="0">
                          <a:latin typeface="Cambria"/>
                          <a:cs typeface="Cambria"/>
                        </a:rPr>
                        <a:t>unusual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90" dirty="0">
                          <a:latin typeface="Cambria"/>
                          <a:cs typeface="Cambria"/>
                        </a:rPr>
                        <a:t>action</a:t>
                      </a:r>
                      <a:r>
                        <a:rPr sz="25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(like</a:t>
                      </a:r>
                      <a:endParaRPr sz="25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</a:tr>
              <a:tr h="3575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5770">
                        <a:lnSpc>
                          <a:spcPts val="2715"/>
                        </a:lnSpc>
                      </a:pPr>
                      <a:r>
                        <a:rPr sz="2500" spc="-95" dirty="0">
                          <a:latin typeface="Cambria"/>
                          <a:cs typeface="Cambria"/>
                        </a:rPr>
                        <a:t>buying</a:t>
                      </a:r>
                      <a:r>
                        <a:rPr sz="25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500" spc="-55" dirty="0">
                          <a:latin typeface="Cambria"/>
                          <a:cs typeface="Cambria"/>
                        </a:rPr>
                        <a:t>gift </a:t>
                      </a:r>
                      <a:r>
                        <a:rPr sz="2500" spc="-10" dirty="0">
                          <a:latin typeface="Cambria"/>
                          <a:cs typeface="Cambria"/>
                        </a:rPr>
                        <a:t>cards)?</a:t>
                      </a:r>
                      <a:endParaRPr sz="25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8100" y="4635500"/>
            <a:ext cx="6718300" cy="1016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9817" y="590549"/>
            <a:ext cx="933640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95" dirty="0">
                <a:solidFill>
                  <a:srgbClr val="31496B"/>
                </a:solidFill>
                <a:latin typeface="Arial MT"/>
                <a:cs typeface="Arial MT"/>
              </a:rPr>
              <a:t>Trust,</a:t>
            </a:r>
            <a:r>
              <a:rPr sz="5000" spc="-350" dirty="0">
                <a:solidFill>
                  <a:srgbClr val="31496B"/>
                </a:solidFill>
                <a:latin typeface="Arial MT"/>
                <a:cs typeface="Arial MT"/>
              </a:rPr>
              <a:t> </a:t>
            </a:r>
            <a:r>
              <a:rPr sz="5000" dirty="0">
                <a:solidFill>
                  <a:srgbClr val="334867"/>
                </a:solidFill>
                <a:latin typeface="Arial MT"/>
                <a:cs typeface="Arial MT"/>
              </a:rPr>
              <a:t>but</a:t>
            </a:r>
            <a:r>
              <a:rPr sz="5000" spc="-155" dirty="0">
                <a:solidFill>
                  <a:srgbClr val="334867"/>
                </a:solidFill>
                <a:latin typeface="Arial MT"/>
                <a:cs typeface="Arial MT"/>
              </a:rPr>
              <a:t> </a:t>
            </a:r>
            <a:r>
              <a:rPr sz="5000" spc="-65" dirty="0">
                <a:solidFill>
                  <a:srgbClr val="344D70"/>
                </a:solidFill>
                <a:latin typeface="Arial MT"/>
                <a:cs typeface="Arial MT"/>
              </a:rPr>
              <a:t>Verify:</a:t>
            </a:r>
            <a:r>
              <a:rPr sz="5000" spc="-390" dirty="0">
                <a:solidFill>
                  <a:srgbClr val="344D70"/>
                </a:solidFill>
                <a:latin typeface="Arial MT"/>
                <a:cs typeface="Arial MT"/>
              </a:rPr>
              <a:t> </a:t>
            </a:r>
            <a:r>
              <a:rPr sz="5000" spc="-200" dirty="0">
                <a:solidFill>
                  <a:srgbClr val="364D70"/>
                </a:solidFill>
                <a:latin typeface="Arial MT"/>
                <a:cs typeface="Arial MT"/>
              </a:rPr>
              <a:t>Hover</a:t>
            </a:r>
            <a:r>
              <a:rPr sz="5000" spc="-60" dirty="0">
                <a:solidFill>
                  <a:srgbClr val="364D70"/>
                </a:solidFill>
                <a:latin typeface="Arial MT"/>
                <a:cs typeface="Arial MT"/>
              </a:rPr>
              <a:t> </a:t>
            </a:r>
            <a:r>
              <a:rPr sz="5000" spc="55" dirty="0">
                <a:solidFill>
                  <a:srgbClr val="334B6D"/>
                </a:solidFill>
                <a:latin typeface="Arial MT"/>
                <a:cs typeface="Arial MT"/>
              </a:rPr>
              <a:t>to</a:t>
            </a:r>
            <a:r>
              <a:rPr sz="5000" spc="-484" dirty="0">
                <a:solidFill>
                  <a:srgbClr val="334B6D"/>
                </a:solidFill>
                <a:latin typeface="Arial MT"/>
                <a:cs typeface="Arial MT"/>
              </a:rPr>
              <a:t> </a:t>
            </a:r>
            <a:r>
              <a:rPr sz="5000" spc="-135" dirty="0">
                <a:solidFill>
                  <a:srgbClr val="364D70"/>
                </a:solidFill>
                <a:latin typeface="Arial MT"/>
                <a:cs typeface="Arial MT"/>
              </a:rPr>
              <a:t>Discover</a:t>
            </a:r>
            <a:endParaRPr sz="5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968" y="1510594"/>
            <a:ext cx="13217525" cy="9232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3970" marR="5080" indent="-1905">
              <a:lnSpc>
                <a:spcPts val="3400"/>
              </a:lnSpc>
              <a:spcBef>
                <a:spcPts val="434"/>
              </a:spcBef>
            </a:pPr>
            <a:r>
              <a:rPr sz="3050" spc="-45" dirty="0">
                <a:solidFill>
                  <a:srgbClr val="080808"/>
                </a:solidFill>
                <a:latin typeface="Times New Roman"/>
                <a:cs typeface="Times New Roman"/>
              </a:rPr>
              <a:t>Attackers</a:t>
            </a:r>
            <a:r>
              <a:rPr sz="3050" spc="-114" dirty="0">
                <a:solidFill>
                  <a:srgbClr val="080808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solidFill>
                  <a:srgbClr val="131313"/>
                </a:solidFill>
                <a:latin typeface="Times New Roman"/>
                <a:cs typeface="Times New Roman"/>
              </a:rPr>
              <a:t>hide</a:t>
            </a:r>
            <a:r>
              <a:rPr sz="3050" spc="-55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50" spc="-35" dirty="0">
                <a:solidFill>
                  <a:srgbClr val="0C0C0C"/>
                </a:solidFill>
                <a:latin typeface="Times New Roman"/>
                <a:cs typeface="Times New Roman"/>
              </a:rPr>
              <a:t>malicious</a:t>
            </a:r>
            <a:r>
              <a:rPr sz="3050" spc="-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3050" spc="-10" dirty="0">
                <a:solidFill>
                  <a:srgbClr val="111111"/>
                </a:solidFill>
                <a:latin typeface="Times New Roman"/>
                <a:cs typeface="Times New Roman"/>
              </a:rPr>
              <a:t>links</a:t>
            </a:r>
            <a:r>
              <a:rPr sz="3050" spc="-114" dirty="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solidFill>
                  <a:srgbClr val="131313"/>
                </a:solidFill>
                <a:latin typeface="Times New Roman"/>
                <a:cs typeface="Times New Roman"/>
              </a:rPr>
              <a:t>behind</a:t>
            </a:r>
            <a:r>
              <a:rPr sz="3050" spc="-80" dirty="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sz="3050" spc="-30" dirty="0">
                <a:latin typeface="Times New Roman"/>
                <a:cs typeface="Times New Roman"/>
              </a:rPr>
              <a:t>legitimate-</a:t>
            </a:r>
            <a:r>
              <a:rPr sz="3050" spc="-35" dirty="0">
                <a:latin typeface="Times New Roman"/>
                <a:cs typeface="Times New Roman"/>
              </a:rPr>
              <a:t>looking</a:t>
            </a:r>
            <a:r>
              <a:rPr sz="3050" spc="-225" dirty="0">
                <a:latin typeface="Times New Roman"/>
                <a:cs typeface="Times New Roman"/>
              </a:rPr>
              <a:t> </a:t>
            </a:r>
            <a:r>
              <a:rPr sz="3050" dirty="0">
                <a:solidFill>
                  <a:srgbClr val="0F0F0F"/>
                </a:solidFill>
                <a:latin typeface="Times New Roman"/>
                <a:cs typeface="Times New Roman"/>
              </a:rPr>
              <a:t>text.</a:t>
            </a:r>
            <a:r>
              <a:rPr sz="3050" spc="-114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3050" spc="-114" dirty="0">
                <a:latin typeface="Times New Roman"/>
                <a:cs typeface="Times New Roman"/>
              </a:rPr>
              <a:t>Before</a:t>
            </a:r>
            <a:r>
              <a:rPr sz="3050" spc="-70" dirty="0">
                <a:latin typeface="Times New Roman"/>
                <a:cs typeface="Times New Roman"/>
              </a:rPr>
              <a:t> </a:t>
            </a:r>
            <a:r>
              <a:rPr sz="3050" spc="-125" dirty="0">
                <a:solidFill>
                  <a:srgbClr val="080808"/>
                </a:solidFill>
                <a:latin typeface="Times New Roman"/>
                <a:cs typeface="Times New Roman"/>
              </a:rPr>
              <a:t>you</a:t>
            </a:r>
            <a:r>
              <a:rPr sz="3050" spc="-65" dirty="0">
                <a:solidFill>
                  <a:srgbClr val="080808"/>
                </a:solidFill>
                <a:latin typeface="Times New Roman"/>
                <a:cs typeface="Times New Roman"/>
              </a:rPr>
              <a:t> </a:t>
            </a:r>
            <a:r>
              <a:rPr sz="3050" spc="-80" dirty="0">
                <a:solidFill>
                  <a:srgbClr val="080808"/>
                </a:solidFill>
                <a:latin typeface="Times New Roman"/>
                <a:cs typeface="Times New Roman"/>
              </a:rPr>
              <a:t>click</a:t>
            </a:r>
            <a:r>
              <a:rPr sz="3050" spc="-110" dirty="0">
                <a:solidFill>
                  <a:srgbClr val="080808"/>
                </a:solidFill>
                <a:latin typeface="Times New Roman"/>
                <a:cs typeface="Times New Roman"/>
              </a:rPr>
              <a:t> </a:t>
            </a:r>
            <a:r>
              <a:rPr sz="3050" spc="-90" dirty="0">
                <a:solidFill>
                  <a:srgbClr val="0A0A0A"/>
                </a:solidFill>
                <a:latin typeface="Times New Roman"/>
                <a:cs typeface="Times New Roman"/>
              </a:rPr>
              <a:t>any</a:t>
            </a:r>
            <a:r>
              <a:rPr sz="3050" spc="-100" dirty="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link, </a:t>
            </a:r>
            <a:r>
              <a:rPr sz="3050" spc="-105" dirty="0">
                <a:solidFill>
                  <a:srgbClr val="0E0E0E"/>
                </a:solidFill>
                <a:latin typeface="Times New Roman"/>
                <a:cs typeface="Times New Roman"/>
              </a:rPr>
              <a:t>always</a:t>
            </a:r>
            <a:r>
              <a:rPr sz="3050" spc="-70" dirty="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sz="3050" spc="-65" dirty="0">
                <a:solidFill>
                  <a:srgbClr val="0A0A0A"/>
                </a:solidFill>
                <a:latin typeface="Times New Roman"/>
                <a:cs typeface="Times New Roman"/>
              </a:rPr>
              <a:t>hover</a:t>
            </a:r>
            <a:r>
              <a:rPr sz="3050" spc="-85" dirty="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sz="3050" spc="-35" dirty="0">
                <a:solidFill>
                  <a:srgbClr val="0C0C0C"/>
                </a:solidFill>
                <a:latin typeface="Times New Roman"/>
                <a:cs typeface="Times New Roman"/>
              </a:rPr>
              <a:t>your</a:t>
            </a:r>
            <a:r>
              <a:rPr sz="305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3050" spc="-45" dirty="0">
                <a:solidFill>
                  <a:srgbClr val="080808"/>
                </a:solidFill>
                <a:latin typeface="Times New Roman"/>
                <a:cs typeface="Times New Roman"/>
              </a:rPr>
              <a:t>mouse</a:t>
            </a:r>
            <a:r>
              <a:rPr sz="3050" spc="-85" dirty="0">
                <a:solidFill>
                  <a:srgbClr val="080808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solidFill>
                  <a:srgbClr val="0C0C0C"/>
                </a:solidFill>
                <a:latin typeface="Times New Roman"/>
                <a:cs typeface="Times New Roman"/>
              </a:rPr>
              <a:t>cursor</a:t>
            </a:r>
            <a:r>
              <a:rPr sz="3050" spc="-10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3050" spc="-65" dirty="0">
                <a:solidFill>
                  <a:srgbClr val="0E0E0E"/>
                </a:solidFill>
                <a:latin typeface="Times New Roman"/>
                <a:cs typeface="Times New Roman"/>
              </a:rPr>
              <a:t>over</a:t>
            </a:r>
            <a:r>
              <a:rPr sz="3050" spc="-85" dirty="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sz="3050" spc="-35" dirty="0">
                <a:solidFill>
                  <a:srgbClr val="161616"/>
                </a:solidFill>
                <a:latin typeface="Times New Roman"/>
                <a:cs typeface="Times New Roman"/>
              </a:rPr>
              <a:t>it</a:t>
            </a:r>
            <a:r>
              <a:rPr sz="3050" spc="-125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solidFill>
                  <a:srgbClr val="161616"/>
                </a:solidFill>
                <a:latin typeface="Times New Roman"/>
                <a:cs typeface="Times New Roman"/>
              </a:rPr>
              <a:t>to</a:t>
            </a:r>
            <a:r>
              <a:rPr sz="3050" spc="-120" dirty="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sz="3050" spc="-80" dirty="0">
                <a:solidFill>
                  <a:srgbClr val="0A0A0A"/>
                </a:solidFill>
                <a:latin typeface="Times New Roman"/>
                <a:cs typeface="Times New Roman"/>
              </a:rPr>
              <a:t>reveal</a:t>
            </a:r>
            <a:r>
              <a:rPr sz="3050" spc="-85" dirty="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sz="3050" spc="-17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solidFill>
                  <a:srgbClr val="0F0F0F"/>
                </a:solidFill>
                <a:latin typeface="Times New Roman"/>
                <a:cs typeface="Times New Roman"/>
              </a:rPr>
              <a:t>true</a:t>
            </a:r>
            <a:r>
              <a:rPr sz="3050" spc="-150" dirty="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sz="3050" spc="-25" dirty="0">
                <a:latin typeface="Times New Roman"/>
                <a:cs typeface="Times New Roman"/>
              </a:rPr>
              <a:t>destination</a:t>
            </a:r>
            <a:r>
              <a:rPr sz="3050" spc="-6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address.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094" y="4427713"/>
            <a:ext cx="2886710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12494" algn="l"/>
              </a:tabLst>
            </a:pPr>
            <a:r>
              <a:rPr sz="2950" spc="-10" dirty="0">
                <a:solidFill>
                  <a:srgbClr val="343434"/>
                </a:solidFill>
                <a:latin typeface="Times New Roman"/>
                <a:cs typeface="Times New Roman"/>
              </a:rPr>
              <a:t>Click</a:t>
            </a:r>
            <a:r>
              <a:rPr sz="2950" dirty="0">
                <a:solidFill>
                  <a:srgbClr val="343434"/>
                </a:solidFill>
                <a:latin typeface="Times New Roman"/>
                <a:cs typeface="Times New Roman"/>
              </a:rPr>
              <a:t>	</a:t>
            </a:r>
            <a:r>
              <a:rPr sz="2950" spc="70" dirty="0">
                <a:solidFill>
                  <a:srgbClr val="2D2D2D"/>
                </a:solidFill>
                <a:latin typeface="Times New Roman"/>
                <a:cs typeface="Times New Roman"/>
              </a:rPr>
              <a:t>here</a:t>
            </a:r>
            <a:r>
              <a:rPr sz="2950" spc="275" dirty="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sz="2950" spc="100" dirty="0">
                <a:solidFill>
                  <a:srgbClr val="414141"/>
                </a:solidFill>
                <a:latin typeface="Times New Roman"/>
                <a:cs typeface="Times New Roman"/>
              </a:rPr>
              <a:t>to</a:t>
            </a:r>
            <a:r>
              <a:rPr sz="2950" spc="60" dirty="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sz="2950" spc="-20" dirty="0">
                <a:solidFill>
                  <a:srgbClr val="3D3D3D"/>
                </a:solidFill>
                <a:latin typeface="Times New Roman"/>
                <a:cs typeface="Times New Roman"/>
              </a:rPr>
              <a:t>view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10324" y="4427713"/>
            <a:ext cx="3543300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dirty="0">
                <a:solidFill>
                  <a:srgbClr val="2B2B2B"/>
                </a:solidFill>
                <a:latin typeface="Times New Roman"/>
                <a:cs typeface="Times New Roman"/>
              </a:rPr>
              <a:t>our</a:t>
            </a:r>
            <a:r>
              <a:rPr sz="2950" spc="145" dirty="0">
                <a:solidFill>
                  <a:srgbClr val="2B2B2B"/>
                </a:solidFill>
                <a:latin typeface="Times New Roman"/>
                <a:cs typeface="Times New Roman"/>
              </a:rPr>
              <a:t> </a:t>
            </a:r>
            <a:r>
              <a:rPr sz="2950" spc="155" dirty="0">
                <a:solidFill>
                  <a:srgbClr val="3F3F3F"/>
                </a:solidFill>
                <a:latin typeface="Times New Roman"/>
                <a:cs typeface="Times New Roman"/>
              </a:rPr>
              <a:t>secure</a:t>
            </a:r>
            <a:r>
              <a:rPr sz="2950" spc="235" dirty="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sz="2950" spc="100" dirty="0">
                <a:solidFill>
                  <a:srgbClr val="2D2D2D"/>
                </a:solidFill>
                <a:latin typeface="Times New Roman"/>
                <a:cs typeface="Times New Roman"/>
              </a:rPr>
              <a:t>document.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04016" y="5827183"/>
            <a:ext cx="12573000" cy="2540000"/>
          </a:xfrm>
          <a:prstGeom prst="rect">
            <a:avLst/>
          </a:prstGeom>
          <a:ln w="29633">
            <a:solidFill>
              <a:srgbClr val="3B4F6B"/>
            </a:solidFill>
          </a:ln>
        </p:spPr>
        <p:txBody>
          <a:bodyPr vert="horz" wrap="square" lIns="0" tIns="4191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00"/>
              </a:spcBef>
            </a:pPr>
            <a:endParaRPr sz="3750">
              <a:latin typeface="Times New Roman"/>
              <a:cs typeface="Times New Roman"/>
            </a:endParaRPr>
          </a:p>
          <a:p>
            <a:pPr marL="1120775">
              <a:lnSpc>
                <a:spcPct val="100000"/>
              </a:lnSpc>
              <a:spcBef>
                <a:spcPts val="5"/>
              </a:spcBef>
            </a:pPr>
            <a:r>
              <a:rPr sz="3750" spc="-254" dirty="0">
                <a:solidFill>
                  <a:srgbClr val="131313"/>
                </a:solidFill>
                <a:latin typeface="Courier New"/>
                <a:cs typeface="Courier New"/>
                <a:hlinkClick r:id="rId3"/>
              </a:rPr>
              <a:t>http://secure-login-</a:t>
            </a:r>
            <a:r>
              <a:rPr sz="3750" spc="-265" dirty="0">
                <a:solidFill>
                  <a:srgbClr val="131313"/>
                </a:solidFill>
                <a:latin typeface="Courier New"/>
                <a:cs typeface="Courier New"/>
                <a:hlinkClick r:id="rId3"/>
              </a:rPr>
              <a:t>portal.biz/asdIjk123/</a:t>
            </a:r>
            <a:endParaRPr sz="37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400" y="3365500"/>
            <a:ext cx="4216400" cy="2082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70700" y="5270500"/>
            <a:ext cx="660400" cy="165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15100" y="3352800"/>
            <a:ext cx="4025900" cy="18161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1912600" y="3378200"/>
            <a:ext cx="3911600" cy="2044700"/>
            <a:chOff x="11912600" y="3378200"/>
            <a:chExt cx="3911600" cy="204470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12600" y="3378200"/>
              <a:ext cx="3911600" cy="20447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500100" y="4381500"/>
              <a:ext cx="127000" cy="368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335000" y="4864100"/>
              <a:ext cx="292100" cy="29210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3565" rIns="0" bIns="0" rtlCol="0">
            <a:spAutoFit/>
          </a:bodyPr>
          <a:lstStyle/>
          <a:p>
            <a:pPr marL="1900555">
              <a:lnSpc>
                <a:spcPct val="100000"/>
              </a:lnSpc>
              <a:spcBef>
                <a:spcPts val="120"/>
              </a:spcBef>
            </a:pPr>
            <a:r>
              <a:rPr sz="5050" spc="180" dirty="0">
                <a:solidFill>
                  <a:srgbClr val="314D74"/>
                </a:solidFill>
              </a:rPr>
              <a:t>When</a:t>
            </a:r>
            <a:r>
              <a:rPr sz="5050" spc="100" dirty="0">
                <a:solidFill>
                  <a:srgbClr val="314D74"/>
                </a:solidFill>
              </a:rPr>
              <a:t> </a:t>
            </a:r>
            <a:r>
              <a:rPr sz="5050" spc="110" dirty="0">
                <a:solidFill>
                  <a:srgbClr val="344D75"/>
                </a:solidFill>
              </a:rPr>
              <a:t>in</a:t>
            </a:r>
            <a:r>
              <a:rPr sz="5050" spc="-85" dirty="0">
                <a:solidFill>
                  <a:srgbClr val="344D75"/>
                </a:solidFill>
              </a:rPr>
              <a:t> </a:t>
            </a:r>
            <a:r>
              <a:rPr sz="5050" spc="155" dirty="0">
                <a:solidFill>
                  <a:srgbClr val="344D75"/>
                </a:solidFill>
              </a:rPr>
              <a:t>Doubt,</a:t>
            </a:r>
            <a:r>
              <a:rPr sz="5050" spc="-85" dirty="0">
                <a:solidFill>
                  <a:srgbClr val="344D75"/>
                </a:solidFill>
              </a:rPr>
              <a:t> </a:t>
            </a:r>
            <a:r>
              <a:rPr sz="5050" spc="150" dirty="0">
                <a:solidFill>
                  <a:srgbClr val="345077"/>
                </a:solidFill>
              </a:rPr>
              <a:t>Follow</a:t>
            </a:r>
            <a:r>
              <a:rPr sz="5050" spc="155" dirty="0">
                <a:solidFill>
                  <a:srgbClr val="345077"/>
                </a:solidFill>
              </a:rPr>
              <a:t> </a:t>
            </a:r>
            <a:r>
              <a:rPr sz="5050" spc="175" dirty="0">
                <a:solidFill>
                  <a:srgbClr val="38547C"/>
                </a:solidFill>
              </a:rPr>
              <a:t>the</a:t>
            </a:r>
            <a:r>
              <a:rPr sz="5050" spc="-30" dirty="0">
                <a:solidFill>
                  <a:srgbClr val="38547C"/>
                </a:solidFill>
              </a:rPr>
              <a:t> </a:t>
            </a:r>
            <a:r>
              <a:rPr sz="5050" spc="340" dirty="0">
                <a:solidFill>
                  <a:srgbClr val="385277"/>
                </a:solidFill>
              </a:rPr>
              <a:t>3-</a:t>
            </a:r>
            <a:r>
              <a:rPr sz="5050" spc="385" dirty="0">
                <a:solidFill>
                  <a:srgbClr val="385277"/>
                </a:solidFill>
              </a:rPr>
              <a:t>Step</a:t>
            </a:r>
            <a:r>
              <a:rPr sz="5050" spc="10" dirty="0">
                <a:solidFill>
                  <a:srgbClr val="385277"/>
                </a:solidFill>
              </a:rPr>
              <a:t> </a:t>
            </a:r>
            <a:r>
              <a:rPr sz="5050" spc="155" dirty="0">
                <a:solidFill>
                  <a:srgbClr val="335077"/>
                </a:solidFill>
              </a:rPr>
              <a:t>Protocol</a:t>
            </a:r>
            <a:endParaRPr sz="5050"/>
          </a:p>
        </p:txBody>
      </p:sp>
      <p:sp>
        <p:nvSpPr>
          <p:cNvPr id="10" name="object 10"/>
          <p:cNvSpPr txBox="1"/>
          <p:nvPr/>
        </p:nvSpPr>
        <p:spPr>
          <a:xfrm>
            <a:off x="1314354" y="4508852"/>
            <a:ext cx="4311650" cy="3121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79095" algn="r">
              <a:lnSpc>
                <a:spcPts val="3260"/>
              </a:lnSpc>
              <a:spcBef>
                <a:spcPts val="95"/>
              </a:spcBef>
              <a:tabLst>
                <a:tab pos="382905" algn="l"/>
              </a:tabLst>
            </a:pPr>
            <a:r>
              <a:rPr sz="2850" spc="45" dirty="0">
                <a:solidFill>
                  <a:srgbClr val="494949"/>
                </a:solidFill>
                <a:latin typeface="Cambria"/>
                <a:cs typeface="Cambria"/>
              </a:rPr>
              <a:t>/</a:t>
            </a:r>
            <a:r>
              <a:rPr sz="2850" dirty="0">
                <a:solidFill>
                  <a:srgbClr val="494949"/>
                </a:solidFill>
                <a:latin typeface="Cambria"/>
                <a:cs typeface="Cambria"/>
              </a:rPr>
              <a:t>	</a:t>
            </a:r>
            <a:r>
              <a:rPr sz="2850" spc="140" dirty="0">
                <a:solidFill>
                  <a:srgbClr val="151515"/>
                </a:solidFill>
                <a:latin typeface="Cambria"/>
                <a:cs typeface="Cambria"/>
              </a:rPr>
              <a:t>DON'T</a:t>
            </a:r>
            <a:r>
              <a:rPr sz="2850" spc="135" dirty="0">
                <a:solidFill>
                  <a:srgbClr val="151515"/>
                </a:solidFill>
                <a:latin typeface="Cambria"/>
                <a:cs typeface="Cambria"/>
              </a:rPr>
              <a:t> </a:t>
            </a:r>
            <a:r>
              <a:rPr sz="2850" spc="185" dirty="0">
                <a:solidFill>
                  <a:srgbClr val="1C1C1C"/>
                </a:solidFill>
                <a:latin typeface="Cambria"/>
                <a:cs typeface="Cambria"/>
              </a:rPr>
              <a:t>CLICK.</a:t>
            </a:r>
            <a:endParaRPr sz="2850">
              <a:latin typeface="Cambria"/>
              <a:cs typeface="Cambria"/>
            </a:endParaRPr>
          </a:p>
          <a:p>
            <a:pPr marR="379730" algn="r">
              <a:lnSpc>
                <a:spcPts val="3740"/>
              </a:lnSpc>
            </a:pPr>
            <a:r>
              <a:rPr sz="3250" spc="-50" dirty="0">
                <a:solidFill>
                  <a:srgbClr val="161616"/>
                </a:solidFill>
                <a:latin typeface="Cambria"/>
                <a:cs typeface="Cambria"/>
              </a:rPr>
              <a:t>DON'T</a:t>
            </a:r>
            <a:r>
              <a:rPr sz="3250" spc="-100" dirty="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sz="3250" spc="-10" dirty="0">
                <a:solidFill>
                  <a:srgbClr val="111111"/>
                </a:solidFill>
                <a:latin typeface="Cambria"/>
                <a:cs typeface="Cambria"/>
              </a:rPr>
              <a:t>REPLY.</a:t>
            </a:r>
            <a:endParaRPr sz="3250">
              <a:latin typeface="Cambria"/>
              <a:cs typeface="Cambria"/>
            </a:endParaRPr>
          </a:p>
          <a:p>
            <a:pPr marL="13970" marR="5080" indent="-1905">
              <a:lnSpc>
                <a:spcPct val="94200"/>
              </a:lnSpc>
              <a:spcBef>
                <a:spcPts val="2680"/>
              </a:spcBef>
            </a:pPr>
            <a:r>
              <a:rPr sz="2600" spc="-70" dirty="0">
                <a:latin typeface="Cambria"/>
                <a:cs typeface="Cambria"/>
              </a:rPr>
              <a:t>Never</a:t>
            </a:r>
            <a:r>
              <a:rPr sz="2600" spc="-35" dirty="0">
                <a:latin typeface="Cambria"/>
                <a:cs typeface="Cambria"/>
              </a:rPr>
              <a:t> </a:t>
            </a:r>
            <a:r>
              <a:rPr sz="2600" spc="-20" dirty="0">
                <a:latin typeface="Cambria"/>
                <a:cs typeface="Cambria"/>
              </a:rPr>
              <a:t>click</a:t>
            </a:r>
            <a:r>
              <a:rPr sz="2600" spc="-9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on</a:t>
            </a:r>
            <a:r>
              <a:rPr sz="2600" spc="-130" dirty="0">
                <a:latin typeface="Cambria"/>
                <a:cs typeface="Cambria"/>
              </a:rPr>
              <a:t> </a:t>
            </a:r>
            <a:r>
              <a:rPr sz="2600" spc="-60" dirty="0">
                <a:latin typeface="Cambria"/>
                <a:cs typeface="Cambria"/>
              </a:rPr>
              <a:t>suspicious</a:t>
            </a:r>
            <a:r>
              <a:rPr sz="2600" spc="-3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links </a:t>
            </a:r>
            <a:r>
              <a:rPr sz="2600" dirty="0">
                <a:latin typeface="Cambria"/>
                <a:cs typeface="Cambria"/>
              </a:rPr>
              <a:t>or</a:t>
            </a:r>
            <a:r>
              <a:rPr sz="2600" spc="-145" dirty="0">
                <a:latin typeface="Cambria"/>
                <a:cs typeface="Cambria"/>
              </a:rPr>
              <a:t> </a:t>
            </a:r>
            <a:r>
              <a:rPr sz="2600" spc="-55" dirty="0">
                <a:latin typeface="Cambria"/>
                <a:cs typeface="Cambria"/>
              </a:rPr>
              <a:t>attachments,</a:t>
            </a:r>
            <a:r>
              <a:rPr sz="2600" spc="110" dirty="0">
                <a:latin typeface="Cambria"/>
                <a:cs typeface="Cambria"/>
              </a:rPr>
              <a:t> </a:t>
            </a:r>
            <a:r>
              <a:rPr sz="2600" spc="-70" dirty="0">
                <a:latin typeface="Cambria"/>
                <a:cs typeface="Cambria"/>
              </a:rPr>
              <a:t>and</a:t>
            </a:r>
            <a:r>
              <a:rPr sz="2600" spc="-75" dirty="0">
                <a:latin typeface="Cambria"/>
                <a:cs typeface="Cambria"/>
              </a:rPr>
              <a:t> </a:t>
            </a:r>
            <a:r>
              <a:rPr sz="2600" spc="-65" dirty="0">
                <a:latin typeface="Cambria"/>
                <a:cs typeface="Cambria"/>
              </a:rPr>
              <a:t>never</a:t>
            </a:r>
            <a:r>
              <a:rPr sz="2600" spc="-30" dirty="0">
                <a:latin typeface="Cambria"/>
                <a:cs typeface="Cambria"/>
              </a:rPr>
              <a:t> </a:t>
            </a:r>
            <a:r>
              <a:rPr sz="2600" spc="-75" dirty="0">
                <a:latin typeface="Cambria"/>
                <a:cs typeface="Cambria"/>
              </a:rPr>
              <a:t>reply </a:t>
            </a:r>
            <a:r>
              <a:rPr sz="2600" spc="-100" dirty="0">
                <a:latin typeface="Cambria"/>
                <a:cs typeface="Cambria"/>
              </a:rPr>
              <a:t>to</a:t>
            </a:r>
            <a:r>
              <a:rPr sz="2600" spc="-45" dirty="0">
                <a:latin typeface="Cambria"/>
                <a:cs typeface="Cambria"/>
              </a:rPr>
              <a:t> </a:t>
            </a:r>
            <a:r>
              <a:rPr sz="2600" spc="-55" dirty="0">
                <a:latin typeface="Cambria"/>
                <a:cs typeface="Cambria"/>
              </a:rPr>
              <a:t>the</a:t>
            </a:r>
            <a:r>
              <a:rPr sz="2600" spc="-90" dirty="0">
                <a:latin typeface="Cambria"/>
                <a:cs typeface="Cambria"/>
              </a:rPr>
              <a:t> </a:t>
            </a:r>
            <a:r>
              <a:rPr sz="2600" spc="-70" dirty="0">
                <a:latin typeface="Cambria"/>
                <a:cs typeface="Cambria"/>
              </a:rPr>
              <a:t>sender.</a:t>
            </a:r>
            <a:r>
              <a:rPr sz="2600" spc="-55" dirty="0">
                <a:latin typeface="Cambria"/>
                <a:cs typeface="Cambria"/>
              </a:rPr>
              <a:t> Interacting</a:t>
            </a:r>
            <a:r>
              <a:rPr sz="2600" spc="9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</a:t>
            </a:r>
            <a:r>
              <a:rPr sz="2600" spc="-110" dirty="0">
                <a:latin typeface="Cambria"/>
                <a:cs typeface="Cambria"/>
              </a:rPr>
              <a:t> </a:t>
            </a:r>
            <a:r>
              <a:rPr sz="2600" spc="-25" dirty="0">
                <a:latin typeface="Cambria"/>
                <a:cs typeface="Cambria"/>
              </a:rPr>
              <a:t>any </a:t>
            </a:r>
            <a:r>
              <a:rPr sz="2600" spc="-125" dirty="0">
                <a:latin typeface="Cambria"/>
                <a:cs typeface="Cambria"/>
              </a:rPr>
              <a:t>way</a:t>
            </a:r>
            <a:r>
              <a:rPr sz="2600" spc="-20" dirty="0">
                <a:latin typeface="Cambria"/>
                <a:cs typeface="Cambria"/>
              </a:rPr>
              <a:t> </a:t>
            </a:r>
            <a:r>
              <a:rPr sz="2600" spc="-40" dirty="0">
                <a:latin typeface="Cambria"/>
                <a:cs typeface="Cambria"/>
              </a:rPr>
              <a:t>confirms</a:t>
            </a:r>
            <a:r>
              <a:rPr sz="2600" spc="-50" dirty="0">
                <a:latin typeface="Cambria"/>
                <a:cs typeface="Cambria"/>
              </a:rPr>
              <a:t> </a:t>
            </a:r>
            <a:r>
              <a:rPr sz="2600" spc="-90" dirty="0">
                <a:latin typeface="Cambria"/>
                <a:cs typeface="Cambria"/>
              </a:rPr>
              <a:t>your</a:t>
            </a:r>
            <a:r>
              <a:rPr sz="2600" spc="-5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email </a:t>
            </a:r>
            <a:r>
              <a:rPr sz="2600" spc="-75" dirty="0">
                <a:latin typeface="Cambria"/>
                <a:cs typeface="Cambria"/>
              </a:rPr>
              <a:t>address</a:t>
            </a:r>
            <a:r>
              <a:rPr sz="2600" spc="-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is</a:t>
            </a:r>
            <a:r>
              <a:rPr sz="2600" spc="-12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active.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74974" y="4596694"/>
            <a:ext cx="1976120" cy="491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50" dirty="0">
                <a:solidFill>
                  <a:srgbClr val="161616"/>
                </a:solidFill>
                <a:latin typeface="Cambria"/>
                <a:cs typeface="Cambria"/>
              </a:rPr>
              <a:t>REPORT</a:t>
            </a:r>
            <a:r>
              <a:rPr sz="3050" spc="315" dirty="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sz="3050" spc="-40" dirty="0">
                <a:solidFill>
                  <a:srgbClr val="1A1A1A"/>
                </a:solidFill>
                <a:latin typeface="Cambria"/>
                <a:cs typeface="Cambria"/>
              </a:rPr>
              <a:t>IT.</a:t>
            </a:r>
            <a:endParaRPr sz="30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67069" y="5710061"/>
            <a:ext cx="4126229" cy="1920239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3970" marR="5080" indent="-1905">
              <a:lnSpc>
                <a:spcPct val="94200"/>
              </a:lnSpc>
              <a:spcBef>
                <a:spcPts val="320"/>
              </a:spcBef>
            </a:pPr>
            <a:r>
              <a:rPr sz="2600" spc="-35" dirty="0">
                <a:latin typeface="Cambria"/>
                <a:cs typeface="Cambria"/>
              </a:rPr>
              <a:t>Use</a:t>
            </a:r>
            <a:r>
              <a:rPr sz="2600" spc="-110" dirty="0">
                <a:latin typeface="Cambria"/>
                <a:cs typeface="Cambria"/>
              </a:rPr>
              <a:t> </a:t>
            </a:r>
            <a:r>
              <a:rPr sz="2600" spc="-70" dirty="0">
                <a:latin typeface="Cambria"/>
                <a:cs typeface="Cambria"/>
              </a:rPr>
              <a:t>the</a:t>
            </a:r>
            <a:r>
              <a:rPr sz="2600" spc="-75" dirty="0">
                <a:latin typeface="Cambria"/>
                <a:cs typeface="Cambria"/>
              </a:rPr>
              <a:t> </a:t>
            </a:r>
            <a:r>
              <a:rPr sz="2600" spc="-65" dirty="0">
                <a:latin typeface="Cambria"/>
                <a:cs typeface="Cambria"/>
              </a:rPr>
              <a:t>‘Report</a:t>
            </a:r>
            <a:r>
              <a:rPr sz="260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Phishing’ </a:t>
            </a:r>
            <a:r>
              <a:rPr sz="2600" spc="-80" dirty="0">
                <a:latin typeface="Cambria"/>
                <a:cs typeface="Cambria"/>
              </a:rPr>
              <a:t>button</a:t>
            </a:r>
            <a:r>
              <a:rPr sz="2600" spc="-6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</a:t>
            </a:r>
            <a:r>
              <a:rPr sz="2600" spc="-114" dirty="0">
                <a:latin typeface="Cambria"/>
                <a:cs typeface="Cambria"/>
              </a:rPr>
              <a:t> </a:t>
            </a:r>
            <a:r>
              <a:rPr sz="2600" spc="-90" dirty="0">
                <a:latin typeface="Cambria"/>
                <a:cs typeface="Cambria"/>
              </a:rPr>
              <a:t>your</a:t>
            </a:r>
            <a:r>
              <a:rPr sz="2600" spc="-50" dirty="0">
                <a:latin typeface="Cambria"/>
                <a:cs typeface="Cambria"/>
              </a:rPr>
              <a:t> </a:t>
            </a:r>
            <a:r>
              <a:rPr sz="2600" spc="-35" dirty="0">
                <a:latin typeface="Cambria"/>
                <a:cs typeface="Cambria"/>
              </a:rPr>
              <a:t>email</a:t>
            </a:r>
            <a:r>
              <a:rPr sz="2600" spc="-2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client.</a:t>
            </a:r>
            <a:r>
              <a:rPr sz="2600" spc="-80" dirty="0">
                <a:latin typeface="Cambria"/>
                <a:cs typeface="Cambria"/>
              </a:rPr>
              <a:t> </a:t>
            </a:r>
            <a:r>
              <a:rPr sz="2600" spc="35" dirty="0">
                <a:latin typeface="Cambria"/>
                <a:cs typeface="Cambria"/>
              </a:rPr>
              <a:t>If </a:t>
            </a:r>
            <a:r>
              <a:rPr sz="2600" spc="-55" dirty="0">
                <a:latin typeface="Cambria"/>
                <a:cs typeface="Cambria"/>
              </a:rPr>
              <a:t>unavailable,</a:t>
            </a:r>
            <a:r>
              <a:rPr sz="2600" spc="75" dirty="0">
                <a:latin typeface="Cambria"/>
                <a:cs typeface="Cambria"/>
              </a:rPr>
              <a:t> </a:t>
            </a:r>
            <a:r>
              <a:rPr sz="2600" spc="-95" dirty="0">
                <a:latin typeface="Cambria"/>
                <a:cs typeface="Cambria"/>
              </a:rPr>
              <a:t>forward</a:t>
            </a:r>
            <a:r>
              <a:rPr sz="2600" dirty="0">
                <a:latin typeface="Cambria"/>
                <a:cs typeface="Cambria"/>
              </a:rPr>
              <a:t> </a:t>
            </a:r>
            <a:r>
              <a:rPr sz="2600" spc="-70" dirty="0">
                <a:latin typeface="Cambria"/>
                <a:cs typeface="Cambria"/>
              </a:rPr>
              <a:t>the</a:t>
            </a:r>
            <a:r>
              <a:rPr sz="2600" spc="-75" dirty="0">
                <a:latin typeface="Cambria"/>
                <a:cs typeface="Cambria"/>
              </a:rPr>
              <a:t> </a:t>
            </a:r>
            <a:r>
              <a:rPr sz="2600" spc="-20" dirty="0">
                <a:latin typeface="Cambria"/>
                <a:cs typeface="Cambria"/>
              </a:rPr>
              <a:t>email </a:t>
            </a:r>
            <a:r>
              <a:rPr sz="2600" spc="-35" dirty="0">
                <a:latin typeface="Cambria"/>
                <a:cs typeface="Cambria"/>
              </a:rPr>
              <a:t>as</a:t>
            </a:r>
            <a:r>
              <a:rPr sz="2600" spc="-11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an</a:t>
            </a:r>
            <a:r>
              <a:rPr sz="2600" spc="-145" dirty="0">
                <a:latin typeface="Cambria"/>
                <a:cs typeface="Cambria"/>
              </a:rPr>
              <a:t> </a:t>
            </a:r>
            <a:r>
              <a:rPr sz="2600" spc="-70" dirty="0">
                <a:latin typeface="Cambria"/>
                <a:cs typeface="Cambria"/>
              </a:rPr>
              <a:t>attachment</a:t>
            </a:r>
            <a:r>
              <a:rPr sz="2600" spc="90" dirty="0">
                <a:latin typeface="Cambria"/>
                <a:cs typeface="Cambria"/>
              </a:rPr>
              <a:t> </a:t>
            </a:r>
            <a:r>
              <a:rPr sz="2600" spc="-25" dirty="0">
                <a:latin typeface="Cambria"/>
                <a:cs typeface="Cambria"/>
              </a:rPr>
              <a:t>to </a:t>
            </a:r>
            <a:r>
              <a:rPr sz="2600" spc="-10" dirty="0">
                <a:latin typeface="Cambria"/>
                <a:cs typeface="Cambria"/>
                <a:hlinkClick r:id="rId8"/>
              </a:rPr>
              <a:t>phishing@company.com.</a:t>
            </a:r>
            <a:endParaRPr sz="2600" dirty="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934566" y="4596694"/>
            <a:ext cx="1899285" cy="491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50" dirty="0">
                <a:solidFill>
                  <a:srgbClr val="1C1C1C"/>
                </a:solidFill>
                <a:latin typeface="Cambria"/>
                <a:cs typeface="Cambria"/>
              </a:rPr>
              <a:t>DELETE</a:t>
            </a:r>
            <a:r>
              <a:rPr sz="3050" spc="50" dirty="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sz="3050" spc="-30" dirty="0">
                <a:solidFill>
                  <a:srgbClr val="131313"/>
                </a:solidFill>
                <a:latin typeface="Cambria"/>
                <a:cs typeface="Cambria"/>
              </a:rPr>
              <a:t>IT.</a:t>
            </a:r>
            <a:endParaRPr sz="30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156560" y="5710061"/>
            <a:ext cx="4261485" cy="154368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8890">
              <a:lnSpc>
                <a:spcPct val="95100"/>
              </a:lnSpc>
              <a:spcBef>
                <a:spcPts val="290"/>
              </a:spcBef>
            </a:pPr>
            <a:r>
              <a:rPr sz="2600" spc="-60" dirty="0">
                <a:latin typeface="Cambria"/>
                <a:cs typeface="Cambria"/>
              </a:rPr>
              <a:t>After</a:t>
            </a:r>
            <a:r>
              <a:rPr sz="2600" spc="-65" dirty="0">
                <a:latin typeface="Cambria"/>
                <a:cs typeface="Cambria"/>
              </a:rPr>
              <a:t> </a:t>
            </a:r>
            <a:r>
              <a:rPr sz="2600" spc="-120" dirty="0">
                <a:latin typeface="Cambria"/>
                <a:cs typeface="Cambria"/>
              </a:rPr>
              <a:t>you</a:t>
            </a:r>
            <a:r>
              <a:rPr sz="2600" spc="-25" dirty="0">
                <a:latin typeface="Cambria"/>
                <a:cs typeface="Cambria"/>
              </a:rPr>
              <a:t> </a:t>
            </a:r>
            <a:r>
              <a:rPr sz="2600" spc="-60" dirty="0">
                <a:latin typeface="Cambria"/>
                <a:cs typeface="Cambria"/>
              </a:rPr>
              <a:t>have</a:t>
            </a:r>
            <a:r>
              <a:rPr sz="2600" spc="-65" dirty="0">
                <a:latin typeface="Cambria"/>
                <a:cs typeface="Cambria"/>
              </a:rPr>
              <a:t> </a:t>
            </a:r>
            <a:r>
              <a:rPr sz="2600" spc="-90" dirty="0">
                <a:latin typeface="Cambria"/>
                <a:cs typeface="Cambria"/>
              </a:rPr>
              <a:t>reported</a:t>
            </a:r>
            <a:r>
              <a:rPr sz="2600" spc="10" dirty="0">
                <a:latin typeface="Cambria"/>
                <a:cs typeface="Cambria"/>
              </a:rPr>
              <a:t> </a:t>
            </a:r>
            <a:r>
              <a:rPr sz="2600" spc="-25" dirty="0">
                <a:latin typeface="Cambria"/>
                <a:cs typeface="Cambria"/>
              </a:rPr>
              <a:t>the </a:t>
            </a:r>
            <a:r>
              <a:rPr sz="2600" dirty="0">
                <a:latin typeface="Cambria"/>
                <a:cs typeface="Cambria"/>
              </a:rPr>
              <a:t>email,</a:t>
            </a:r>
            <a:r>
              <a:rPr sz="2600" spc="-145" dirty="0">
                <a:latin typeface="Cambria"/>
                <a:cs typeface="Cambria"/>
              </a:rPr>
              <a:t> </a:t>
            </a:r>
            <a:r>
              <a:rPr sz="2600" spc="-60" dirty="0">
                <a:latin typeface="Cambria"/>
                <a:cs typeface="Cambria"/>
              </a:rPr>
              <a:t>delete</a:t>
            </a:r>
            <a:r>
              <a:rPr sz="2600" spc="-45" dirty="0">
                <a:latin typeface="Cambria"/>
                <a:cs typeface="Cambria"/>
              </a:rPr>
              <a:t> it</a:t>
            </a:r>
            <a:r>
              <a:rPr sz="2600" spc="-100" dirty="0">
                <a:latin typeface="Cambria"/>
                <a:cs typeface="Cambria"/>
              </a:rPr>
              <a:t> </a:t>
            </a:r>
            <a:r>
              <a:rPr sz="2600" spc="-35" dirty="0">
                <a:latin typeface="Cambria"/>
                <a:cs typeface="Cambria"/>
              </a:rPr>
              <a:t>from</a:t>
            </a:r>
            <a:r>
              <a:rPr sz="2600" spc="-45" dirty="0">
                <a:latin typeface="Cambria"/>
                <a:cs typeface="Cambria"/>
              </a:rPr>
              <a:t> </a:t>
            </a:r>
            <a:r>
              <a:rPr sz="2600" spc="-85" dirty="0">
                <a:latin typeface="Cambria"/>
                <a:cs typeface="Cambria"/>
              </a:rPr>
              <a:t>your</a:t>
            </a:r>
            <a:r>
              <a:rPr sz="2600" spc="-60" dirty="0">
                <a:latin typeface="Cambria"/>
                <a:cs typeface="Cambria"/>
              </a:rPr>
              <a:t> </a:t>
            </a:r>
            <a:r>
              <a:rPr sz="2600" spc="-35" dirty="0">
                <a:latin typeface="Cambria"/>
                <a:cs typeface="Cambria"/>
              </a:rPr>
              <a:t>inbox </a:t>
            </a:r>
            <a:r>
              <a:rPr sz="2550" spc="-10" dirty="0">
                <a:latin typeface="Cambria"/>
                <a:cs typeface="Cambria"/>
              </a:rPr>
              <a:t>to</a:t>
            </a:r>
            <a:r>
              <a:rPr sz="2550" spc="-135" dirty="0">
                <a:latin typeface="Cambria"/>
                <a:cs typeface="Cambria"/>
              </a:rPr>
              <a:t> </a:t>
            </a:r>
            <a:r>
              <a:rPr sz="2550" spc="-60" dirty="0">
                <a:latin typeface="Cambria"/>
                <a:cs typeface="Cambria"/>
              </a:rPr>
              <a:t>prevent</a:t>
            </a:r>
            <a:r>
              <a:rPr sz="2550" spc="-40" dirty="0">
                <a:latin typeface="Cambria"/>
                <a:cs typeface="Cambria"/>
              </a:rPr>
              <a:t> </a:t>
            </a:r>
            <a:r>
              <a:rPr sz="2550" spc="-25" dirty="0">
                <a:latin typeface="Cambria"/>
                <a:cs typeface="Cambria"/>
              </a:rPr>
              <a:t>accidental</a:t>
            </a:r>
            <a:r>
              <a:rPr sz="2550" spc="-70" dirty="0">
                <a:latin typeface="Cambria"/>
                <a:cs typeface="Cambria"/>
              </a:rPr>
              <a:t> </a:t>
            </a:r>
            <a:r>
              <a:rPr sz="2550" spc="-10" dirty="0">
                <a:latin typeface="Cambria"/>
                <a:cs typeface="Cambria"/>
              </a:rPr>
              <a:t>clicks later.</a:t>
            </a:r>
            <a:endParaRPr sz="25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5600" y="8597900"/>
            <a:ext cx="876300" cy="533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8500" y="2971800"/>
            <a:ext cx="8394700" cy="46101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9616" y="677686"/>
            <a:ext cx="8268334" cy="904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750" spc="-10" dirty="0">
                <a:solidFill>
                  <a:srgbClr val="384F75"/>
                </a:solidFill>
                <a:latin typeface="Arial MT"/>
                <a:cs typeface="Arial MT"/>
              </a:rPr>
              <a:t>Spot</a:t>
            </a:r>
            <a:r>
              <a:rPr sz="5750" spc="-320" dirty="0">
                <a:solidFill>
                  <a:srgbClr val="384F75"/>
                </a:solidFill>
                <a:latin typeface="Arial MT"/>
                <a:cs typeface="Arial MT"/>
              </a:rPr>
              <a:t> </a:t>
            </a:r>
            <a:r>
              <a:rPr sz="5750" spc="100" dirty="0">
                <a:solidFill>
                  <a:srgbClr val="3B567E"/>
                </a:solidFill>
                <a:latin typeface="Arial MT"/>
                <a:cs typeface="Arial MT"/>
              </a:rPr>
              <a:t>the</a:t>
            </a:r>
            <a:r>
              <a:rPr sz="5750" spc="-475" dirty="0">
                <a:solidFill>
                  <a:srgbClr val="3B567E"/>
                </a:solidFill>
                <a:latin typeface="Arial MT"/>
                <a:cs typeface="Arial MT"/>
              </a:rPr>
              <a:t> </a:t>
            </a:r>
            <a:r>
              <a:rPr sz="5750" spc="-60" dirty="0">
                <a:solidFill>
                  <a:srgbClr val="3A527B"/>
                </a:solidFill>
                <a:latin typeface="Arial MT"/>
                <a:cs typeface="Arial MT"/>
              </a:rPr>
              <a:t>Phish:</a:t>
            </a:r>
            <a:r>
              <a:rPr sz="5750" spc="-340" dirty="0">
                <a:solidFill>
                  <a:srgbClr val="3A527B"/>
                </a:solidFill>
                <a:latin typeface="Arial MT"/>
                <a:cs typeface="Arial MT"/>
              </a:rPr>
              <a:t> </a:t>
            </a:r>
            <a:r>
              <a:rPr sz="5750" spc="-45" dirty="0">
                <a:solidFill>
                  <a:srgbClr val="334F75"/>
                </a:solidFill>
                <a:latin typeface="Arial MT"/>
                <a:cs typeface="Arial MT"/>
              </a:rPr>
              <a:t>Challenge</a:t>
            </a:r>
            <a:endParaRPr sz="575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6308" y="1590675"/>
            <a:ext cx="15109825" cy="92836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660"/>
              </a:lnSpc>
              <a:spcBef>
                <a:spcPts val="125"/>
              </a:spcBef>
            </a:pPr>
            <a:r>
              <a:rPr sz="3100" spc="-200" dirty="0">
                <a:latin typeface="Cambria"/>
                <a:cs typeface="Cambria"/>
              </a:rPr>
              <a:t>You</a:t>
            </a:r>
            <a:r>
              <a:rPr sz="3100" spc="20" dirty="0">
                <a:latin typeface="Cambria"/>
                <a:cs typeface="Cambria"/>
              </a:rPr>
              <a:t> </a:t>
            </a:r>
            <a:r>
              <a:rPr sz="3100" spc="-80" dirty="0">
                <a:solidFill>
                  <a:srgbClr val="080808"/>
                </a:solidFill>
                <a:latin typeface="Cambria"/>
                <a:cs typeface="Cambria"/>
              </a:rPr>
              <a:t>receive</a:t>
            </a:r>
            <a:r>
              <a:rPr sz="3100" spc="-95" dirty="0">
                <a:solidFill>
                  <a:srgbClr val="080808"/>
                </a:solidFill>
                <a:latin typeface="Cambria"/>
                <a:cs typeface="Cambria"/>
              </a:rPr>
              <a:t> </a:t>
            </a:r>
            <a:r>
              <a:rPr sz="3100" spc="-105" dirty="0">
                <a:solidFill>
                  <a:srgbClr val="0F0F0F"/>
                </a:solidFill>
                <a:latin typeface="Cambria"/>
                <a:cs typeface="Cambria"/>
              </a:rPr>
              <a:t>this</a:t>
            </a:r>
            <a:r>
              <a:rPr sz="3100" spc="-75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3100" spc="-40" dirty="0">
                <a:solidFill>
                  <a:srgbClr val="111111"/>
                </a:solidFill>
                <a:latin typeface="Cambria"/>
                <a:cs typeface="Cambria"/>
              </a:rPr>
              <a:t>email</a:t>
            </a:r>
            <a:r>
              <a:rPr sz="3100" spc="-130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3100" spc="-50" dirty="0">
                <a:solidFill>
                  <a:srgbClr val="0F0F0F"/>
                </a:solidFill>
                <a:latin typeface="Cambria"/>
                <a:cs typeface="Cambria"/>
              </a:rPr>
              <a:t>from</a:t>
            </a:r>
            <a:r>
              <a:rPr sz="3100" spc="-125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3100" spc="-160" dirty="0">
                <a:solidFill>
                  <a:srgbClr val="0A0A0A"/>
                </a:solidFill>
                <a:latin typeface="Cambria"/>
                <a:cs typeface="Cambria"/>
              </a:rPr>
              <a:t>your</a:t>
            </a:r>
            <a:r>
              <a:rPr sz="3100" spc="-10" dirty="0">
                <a:solidFill>
                  <a:srgbClr val="0A0A0A"/>
                </a:solidFill>
                <a:latin typeface="Cambria"/>
                <a:cs typeface="Cambria"/>
              </a:rPr>
              <a:t> </a:t>
            </a:r>
            <a:r>
              <a:rPr sz="3100" spc="-85" dirty="0">
                <a:latin typeface="Cambria"/>
                <a:cs typeface="Cambria"/>
              </a:rPr>
              <a:t>file-</a:t>
            </a:r>
            <a:r>
              <a:rPr sz="3100" spc="-65" dirty="0">
                <a:latin typeface="Cambria"/>
                <a:cs typeface="Cambria"/>
              </a:rPr>
              <a:t>sharing</a:t>
            </a:r>
            <a:r>
              <a:rPr sz="3100" spc="-105" dirty="0">
                <a:latin typeface="Cambria"/>
                <a:cs typeface="Cambria"/>
              </a:rPr>
              <a:t> </a:t>
            </a:r>
            <a:r>
              <a:rPr sz="3100" spc="-50" dirty="0">
                <a:latin typeface="Cambria"/>
                <a:cs typeface="Cambria"/>
              </a:rPr>
              <a:t>service.</a:t>
            </a:r>
            <a:r>
              <a:rPr sz="3100" spc="-30" dirty="0">
                <a:latin typeface="Cambria"/>
                <a:cs typeface="Cambria"/>
              </a:rPr>
              <a:t> </a:t>
            </a:r>
            <a:r>
              <a:rPr sz="3100" dirty="0">
                <a:solidFill>
                  <a:srgbClr val="111111"/>
                </a:solidFill>
                <a:latin typeface="Cambria"/>
                <a:cs typeface="Cambria"/>
              </a:rPr>
              <a:t>Is</a:t>
            </a:r>
            <a:r>
              <a:rPr sz="3100" spc="-17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3100" spc="-45" dirty="0">
                <a:solidFill>
                  <a:srgbClr val="111111"/>
                </a:solidFill>
                <a:latin typeface="Cambria"/>
                <a:cs typeface="Cambria"/>
              </a:rPr>
              <a:t>it </a:t>
            </a:r>
            <a:r>
              <a:rPr sz="3100" spc="-50" dirty="0">
                <a:solidFill>
                  <a:srgbClr val="131313"/>
                </a:solidFill>
                <a:latin typeface="Cambria"/>
                <a:cs typeface="Cambria"/>
              </a:rPr>
              <a:t>a</a:t>
            </a:r>
            <a:r>
              <a:rPr sz="3100" spc="-14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3100" spc="-85" dirty="0">
                <a:solidFill>
                  <a:srgbClr val="0C0C0C"/>
                </a:solidFill>
                <a:latin typeface="Cambria"/>
                <a:cs typeface="Cambria"/>
              </a:rPr>
              <a:t>legitimate</a:t>
            </a:r>
            <a:r>
              <a:rPr sz="3100" spc="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3100" spc="-75" dirty="0">
                <a:solidFill>
                  <a:srgbClr val="0C0C0C"/>
                </a:solidFill>
                <a:latin typeface="Cambria"/>
                <a:cs typeface="Cambria"/>
              </a:rPr>
              <a:t>notification</a:t>
            </a:r>
            <a:r>
              <a:rPr sz="3100" spc="5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3100" spc="-30" dirty="0">
                <a:solidFill>
                  <a:srgbClr val="131313"/>
                </a:solidFill>
                <a:latin typeface="Cambria"/>
                <a:cs typeface="Cambria"/>
              </a:rPr>
              <a:t>or</a:t>
            </a:r>
            <a:r>
              <a:rPr sz="3100" spc="-9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3100" spc="-55" dirty="0">
                <a:solidFill>
                  <a:srgbClr val="111111"/>
                </a:solidFill>
                <a:latin typeface="Cambria"/>
                <a:cs typeface="Cambria"/>
              </a:rPr>
              <a:t>a</a:t>
            </a:r>
            <a:r>
              <a:rPr sz="3100" spc="-15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3100" spc="-10" dirty="0">
                <a:latin typeface="Cambria"/>
                <a:cs typeface="Cambria"/>
              </a:rPr>
              <a:t>phishing</a:t>
            </a:r>
            <a:endParaRPr sz="3100" dirty="0">
              <a:latin typeface="Cambria"/>
              <a:cs typeface="Cambria"/>
            </a:endParaRPr>
          </a:p>
          <a:p>
            <a:pPr marL="13970">
              <a:lnSpc>
                <a:spcPts val="3420"/>
              </a:lnSpc>
            </a:pPr>
            <a:r>
              <a:rPr sz="2900" spc="-10" dirty="0">
                <a:solidFill>
                  <a:srgbClr val="0A0A0A"/>
                </a:solidFill>
                <a:latin typeface="Cambria"/>
                <a:cs typeface="Cambria"/>
              </a:rPr>
              <a:t>attempt?</a:t>
            </a:r>
            <a:endParaRPr sz="29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6395" y="3285066"/>
            <a:ext cx="104203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20" dirty="0">
                <a:solidFill>
                  <a:srgbClr val="1C1C1C"/>
                </a:solidFill>
                <a:latin typeface="Arial MT"/>
                <a:cs typeface="Arial MT"/>
              </a:rPr>
              <a:t>FileStore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52919" y="4589286"/>
            <a:ext cx="1038860" cy="332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10" dirty="0">
                <a:solidFill>
                  <a:srgbClr val="232323"/>
                </a:solidFill>
                <a:latin typeface="Arial MT"/>
                <a:cs typeface="Arial MT"/>
              </a:rPr>
              <a:t>FileStore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11442" y="8105422"/>
            <a:ext cx="1871980" cy="1210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750" spc="210" dirty="0">
                <a:solidFill>
                  <a:srgbClr val="1F1F1F"/>
                </a:solidFill>
                <a:latin typeface="Calibri"/>
                <a:cs typeface="Calibri"/>
              </a:rPr>
              <a:t>Real</a:t>
            </a:r>
            <a:endParaRPr sz="77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97542" y="8105422"/>
            <a:ext cx="2511425" cy="1210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750" spc="240" dirty="0">
                <a:solidFill>
                  <a:srgbClr val="212121"/>
                </a:solidFill>
                <a:latin typeface="Calibri"/>
                <a:cs typeface="Calibri"/>
              </a:rPr>
              <a:t>Fake?</a:t>
            </a:r>
            <a:endParaRPr sz="7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1100" y="5638800"/>
            <a:ext cx="1498600" cy="1206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1300" y="5753100"/>
            <a:ext cx="8686800" cy="15875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16516" y="5842000"/>
            <a:ext cx="0" cy="1079500"/>
          </a:xfrm>
          <a:custGeom>
            <a:avLst/>
            <a:gdLst/>
            <a:ahLst/>
            <a:cxnLst/>
            <a:rect l="l" t="t" r="r" b="b"/>
            <a:pathLst>
              <a:path h="1079500">
                <a:moveTo>
                  <a:pt x="0" y="1079500"/>
                </a:moveTo>
                <a:lnTo>
                  <a:pt x="0" y="0"/>
                </a:lnTo>
              </a:path>
            </a:pathLst>
          </a:custGeom>
          <a:ln w="21166">
            <a:solidFill>
              <a:srgbClr val="3B4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905933" y="5626100"/>
            <a:ext cx="4072890" cy="1295400"/>
            <a:chOff x="905933" y="5626100"/>
            <a:chExt cx="4072890" cy="1295400"/>
          </a:xfrm>
        </p:grpSpPr>
        <p:sp>
          <p:nvSpPr>
            <p:cNvPr id="6" name="object 6"/>
            <p:cNvSpPr/>
            <p:nvPr/>
          </p:nvSpPr>
          <p:spPr>
            <a:xfrm>
              <a:off x="4967816" y="5626100"/>
              <a:ext cx="0" cy="1295400"/>
            </a:xfrm>
            <a:custGeom>
              <a:avLst/>
              <a:gdLst/>
              <a:ahLst/>
              <a:cxnLst/>
              <a:rect l="l" t="t" r="r" b="b"/>
              <a:pathLst>
                <a:path h="1295400">
                  <a:moveTo>
                    <a:pt x="0" y="1295400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3B4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2933" y="5636683"/>
              <a:ext cx="3945890" cy="0"/>
            </a:xfrm>
            <a:custGeom>
              <a:avLst/>
              <a:gdLst/>
              <a:ahLst/>
              <a:cxnLst/>
              <a:rect l="l" t="t" r="r" b="b"/>
              <a:pathLst>
                <a:path w="3945890">
                  <a:moveTo>
                    <a:pt x="0" y="0"/>
                  </a:moveTo>
                  <a:lnTo>
                    <a:pt x="3945466" y="0"/>
                  </a:lnTo>
                </a:path>
              </a:pathLst>
            </a:custGeom>
            <a:ln w="21166">
              <a:solidFill>
                <a:srgbClr val="3B4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05933" y="6910916"/>
              <a:ext cx="4072890" cy="0"/>
            </a:xfrm>
            <a:custGeom>
              <a:avLst/>
              <a:gdLst/>
              <a:ahLst/>
              <a:cxnLst/>
              <a:rect l="l" t="t" r="r" b="b"/>
              <a:pathLst>
                <a:path w="4072890">
                  <a:moveTo>
                    <a:pt x="0" y="0"/>
                  </a:moveTo>
                  <a:lnTo>
                    <a:pt x="4072466" y="0"/>
                  </a:lnTo>
                </a:path>
              </a:pathLst>
            </a:custGeom>
            <a:ln w="21166">
              <a:solidFill>
                <a:srgbClr val="3B48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0437283" y="3695700"/>
            <a:ext cx="0" cy="847090"/>
          </a:xfrm>
          <a:custGeom>
            <a:avLst/>
            <a:gdLst/>
            <a:ahLst/>
            <a:cxnLst/>
            <a:rect l="l" t="t" r="r" b="b"/>
            <a:pathLst>
              <a:path h="847089">
                <a:moveTo>
                  <a:pt x="0" y="846666"/>
                </a:moveTo>
                <a:lnTo>
                  <a:pt x="0" y="0"/>
                </a:lnTo>
              </a:path>
            </a:pathLst>
          </a:custGeom>
          <a:ln w="21166">
            <a:solidFill>
              <a:srgbClr val="3848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9093200" y="3238500"/>
            <a:ext cx="7404100" cy="1304290"/>
            <a:chOff x="9093200" y="3238500"/>
            <a:chExt cx="7404100" cy="1304290"/>
          </a:xfrm>
        </p:grpSpPr>
        <p:sp>
          <p:nvSpPr>
            <p:cNvPr id="11" name="object 11"/>
            <p:cNvSpPr/>
            <p:nvPr/>
          </p:nvSpPr>
          <p:spPr>
            <a:xfrm>
              <a:off x="16486712" y="3467100"/>
              <a:ext cx="0" cy="1075690"/>
            </a:xfrm>
            <a:custGeom>
              <a:avLst/>
              <a:gdLst/>
              <a:ahLst/>
              <a:cxnLst/>
              <a:rect l="l" t="t" r="r" b="b"/>
              <a:pathLst>
                <a:path h="1075689">
                  <a:moveTo>
                    <a:pt x="0" y="10752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3848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646832" y="3477683"/>
              <a:ext cx="5850890" cy="0"/>
            </a:xfrm>
            <a:custGeom>
              <a:avLst/>
              <a:gdLst/>
              <a:ahLst/>
              <a:cxnLst/>
              <a:rect l="l" t="t" r="r" b="b"/>
              <a:pathLst>
                <a:path w="5850890">
                  <a:moveTo>
                    <a:pt x="0" y="0"/>
                  </a:moveTo>
                  <a:lnTo>
                    <a:pt x="5850466" y="0"/>
                  </a:lnTo>
                </a:path>
              </a:pathLst>
            </a:custGeom>
            <a:ln w="21166">
              <a:solidFill>
                <a:srgbClr val="3848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426700" y="4531783"/>
              <a:ext cx="6070600" cy="0"/>
            </a:xfrm>
            <a:custGeom>
              <a:avLst/>
              <a:gdLst/>
              <a:ahLst/>
              <a:cxnLst/>
              <a:rect l="l" t="t" r="r" b="b"/>
              <a:pathLst>
                <a:path w="6070600">
                  <a:moveTo>
                    <a:pt x="0" y="0"/>
                  </a:moveTo>
                  <a:lnTo>
                    <a:pt x="6070600" y="0"/>
                  </a:lnTo>
                </a:path>
              </a:pathLst>
            </a:custGeom>
            <a:ln w="21166">
              <a:solidFill>
                <a:srgbClr val="3848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093200" y="3947583"/>
              <a:ext cx="1363345" cy="0"/>
            </a:xfrm>
            <a:custGeom>
              <a:avLst/>
              <a:gdLst/>
              <a:ahLst/>
              <a:cxnLst/>
              <a:rect l="l" t="t" r="r" b="b"/>
              <a:pathLst>
                <a:path w="1363345">
                  <a:moveTo>
                    <a:pt x="0" y="0"/>
                  </a:moveTo>
                  <a:lnTo>
                    <a:pt x="1363133" y="0"/>
                  </a:lnTo>
                </a:path>
              </a:pathLst>
            </a:custGeom>
            <a:ln w="29633">
              <a:solidFill>
                <a:srgbClr val="938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61600" y="3238500"/>
              <a:ext cx="419100" cy="419100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917793" y="706613"/>
            <a:ext cx="3162300" cy="8616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450" spc="-10" dirty="0">
                <a:solidFill>
                  <a:srgbClr val="364F75"/>
                </a:solidFill>
                <a:latin typeface="Arial MT"/>
                <a:cs typeface="Arial MT"/>
              </a:rPr>
              <a:t>Challenge</a:t>
            </a:r>
            <a:endParaRPr sz="54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72565" y="706613"/>
            <a:ext cx="3780790" cy="8616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450" dirty="0">
                <a:solidFill>
                  <a:srgbClr val="344B72"/>
                </a:solidFill>
                <a:latin typeface="Arial MT"/>
                <a:cs typeface="Arial MT"/>
              </a:rPr>
              <a:t>:</a:t>
            </a:r>
            <a:r>
              <a:rPr sz="5450" spc="-250" dirty="0">
                <a:solidFill>
                  <a:srgbClr val="344B72"/>
                </a:solidFill>
                <a:latin typeface="Arial MT"/>
                <a:cs typeface="Arial MT"/>
              </a:rPr>
              <a:t> </a:t>
            </a:r>
            <a:r>
              <a:rPr sz="5450" spc="150" dirty="0">
                <a:solidFill>
                  <a:srgbClr val="3B5277"/>
                </a:solidFill>
                <a:latin typeface="Arial MT"/>
                <a:cs typeface="Arial MT"/>
              </a:rPr>
              <a:t>It's</a:t>
            </a:r>
            <a:r>
              <a:rPr sz="5450" spc="-355" dirty="0">
                <a:solidFill>
                  <a:srgbClr val="3B5277"/>
                </a:solidFill>
                <a:latin typeface="Arial MT"/>
                <a:cs typeface="Arial MT"/>
              </a:rPr>
              <a:t> </a:t>
            </a:r>
            <a:r>
              <a:rPr sz="5450" spc="-100" dirty="0">
                <a:solidFill>
                  <a:srgbClr val="3A5275"/>
                </a:solidFill>
                <a:latin typeface="Arial MT"/>
                <a:cs typeface="Arial MT"/>
              </a:rPr>
              <a:t>a</a:t>
            </a:r>
            <a:r>
              <a:rPr sz="5450" spc="-290" dirty="0">
                <a:solidFill>
                  <a:srgbClr val="3A5275"/>
                </a:solidFill>
                <a:latin typeface="Arial MT"/>
                <a:cs typeface="Arial MT"/>
              </a:rPr>
              <a:t> </a:t>
            </a:r>
            <a:r>
              <a:rPr sz="5450" spc="-10" dirty="0">
                <a:solidFill>
                  <a:srgbClr val="344D6E"/>
                </a:solidFill>
                <a:latin typeface="Arial MT"/>
                <a:cs typeface="Arial MT"/>
              </a:rPr>
              <a:t>Phish</a:t>
            </a:r>
            <a:endParaRPr sz="54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5062" y="5528027"/>
            <a:ext cx="143510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spc="-50" dirty="0">
                <a:solidFill>
                  <a:srgbClr val="AC8A56"/>
                </a:solidFill>
                <a:latin typeface="Times New Roman"/>
                <a:cs typeface="Times New Roman"/>
              </a:rPr>
              <a:t>"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45362" y="5709708"/>
            <a:ext cx="3446145" cy="103378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indent="-19685" algn="ctr">
              <a:lnSpc>
                <a:spcPts val="2600"/>
              </a:lnSpc>
              <a:spcBef>
                <a:spcPts val="310"/>
              </a:spcBef>
            </a:pPr>
            <a:r>
              <a:rPr sz="2300" spc="-45" dirty="0">
                <a:latin typeface="Times New Roman"/>
                <a:cs typeface="Times New Roman"/>
              </a:rPr>
              <a:t>The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spc="-85" dirty="0">
                <a:latin typeface="Times New Roman"/>
                <a:cs typeface="Times New Roman"/>
              </a:rPr>
              <a:t>message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Times New Roman"/>
                <a:cs typeface="Times New Roman"/>
              </a:rPr>
              <a:t>uses</a:t>
            </a:r>
            <a:r>
              <a:rPr sz="2300" spc="-9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urgency </a:t>
            </a:r>
            <a:r>
              <a:rPr sz="2300" spc="-114" dirty="0">
                <a:latin typeface="Times New Roman"/>
                <a:cs typeface="Times New Roman"/>
              </a:rPr>
              <a:t>(“Upgrade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spc="-155" dirty="0">
                <a:latin typeface="Times New Roman"/>
                <a:cs typeface="Times New Roman"/>
              </a:rPr>
              <a:t>now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spc="-75" dirty="0">
                <a:latin typeface="Times New Roman"/>
                <a:cs typeface="Times New Roman"/>
              </a:rPr>
              <a:t>to</a:t>
            </a:r>
            <a:r>
              <a:rPr sz="2300" spc="-95" dirty="0">
                <a:latin typeface="Times New Roman"/>
                <a:cs typeface="Times New Roman"/>
              </a:rPr>
              <a:t> </a:t>
            </a:r>
            <a:r>
              <a:rPr sz="2300" spc="-105" dirty="0">
                <a:latin typeface="Times New Roman"/>
                <a:cs typeface="Times New Roman"/>
              </a:rPr>
              <a:t>avoid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spc="-40" dirty="0">
                <a:latin typeface="Times New Roman"/>
                <a:cs typeface="Times New Roman"/>
              </a:rPr>
              <a:t>service </a:t>
            </a:r>
            <a:r>
              <a:rPr sz="2200" spc="-10" dirty="0">
                <a:latin typeface="Times New Roman"/>
                <a:cs typeface="Times New Roman"/>
              </a:rPr>
              <a:t>interruption!")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rush </a:t>
            </a:r>
            <a:r>
              <a:rPr sz="2200" spc="-20" dirty="0">
                <a:latin typeface="Times New Roman"/>
                <a:cs typeface="Times New Roman"/>
              </a:rPr>
              <a:t>you.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02468" y="3285066"/>
            <a:ext cx="3936365" cy="94424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10" dirty="0">
                <a:solidFill>
                  <a:srgbClr val="262626"/>
                </a:solidFill>
                <a:latin typeface="Cambria"/>
                <a:cs typeface="Cambria"/>
              </a:rPr>
              <a:t>FileStore</a:t>
            </a:r>
            <a:endParaRPr sz="2050">
              <a:latin typeface="Cambria"/>
              <a:cs typeface="Cambria"/>
            </a:endParaRPr>
          </a:p>
          <a:p>
            <a:pPr marL="20955">
              <a:lnSpc>
                <a:spcPct val="100000"/>
              </a:lnSpc>
              <a:spcBef>
                <a:spcPts val="2039"/>
              </a:spcBef>
              <a:tabLst>
                <a:tab pos="3844290" algn="l"/>
              </a:tabLst>
            </a:pPr>
            <a:r>
              <a:rPr sz="950" spc="-20" dirty="0">
                <a:solidFill>
                  <a:srgbClr val="111111"/>
                </a:solidFill>
                <a:latin typeface="Cambria"/>
                <a:cs typeface="Cambria"/>
              </a:rPr>
              <a:t>Ff</a:t>
            </a:r>
            <a:r>
              <a:rPr sz="950" spc="-3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950" dirty="0">
                <a:latin typeface="Cambria"/>
                <a:cs typeface="Cambria"/>
              </a:rPr>
              <a:t>Ie5tor</a:t>
            </a:r>
            <a:r>
              <a:rPr sz="950" dirty="0">
                <a:solidFill>
                  <a:srgbClr val="161616"/>
                </a:solidFill>
                <a:latin typeface="Cambria"/>
                <a:cs typeface="Cambria"/>
              </a:rPr>
              <a:t>e</a:t>
            </a:r>
            <a:r>
              <a:rPr sz="950" spc="265" dirty="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sz="950" spc="-10" dirty="0">
                <a:latin typeface="Cambria"/>
                <a:cs typeface="Cambria"/>
              </a:rPr>
              <a:t>NotI1'ication</a:t>
            </a:r>
            <a:r>
              <a:rPr sz="950" spc="-65" dirty="0">
                <a:latin typeface="Cambria"/>
                <a:cs typeface="Cambria"/>
              </a:rPr>
              <a:t> </a:t>
            </a:r>
            <a:r>
              <a:rPr sz="950" dirty="0">
                <a:solidFill>
                  <a:srgbClr val="131313"/>
                </a:solidFill>
                <a:latin typeface="Cambria"/>
                <a:cs typeface="Cambria"/>
              </a:rPr>
              <a:t>s</a:t>
            </a:r>
            <a:r>
              <a:rPr sz="950" spc="150" dirty="0">
                <a:solidFill>
                  <a:srgbClr val="131313"/>
                </a:solidFill>
                <a:latin typeface="Cambria"/>
                <a:cs typeface="Cambria"/>
              </a:rPr>
              <a:t>  </a:t>
            </a:r>
            <a:r>
              <a:rPr sz="950" spc="-10" dirty="0">
                <a:solidFill>
                  <a:srgbClr val="262626"/>
                </a:solidFill>
                <a:latin typeface="Cambria"/>
                <a:cs typeface="Cambria"/>
              </a:rPr>
              <a:t>&lt;rJotifi</a:t>
            </a:r>
            <a:r>
              <a:rPr sz="950" spc="330" dirty="0">
                <a:solidFill>
                  <a:srgbClr val="262626"/>
                </a:solidFill>
                <a:latin typeface="Cambria"/>
                <a:cs typeface="Cambria"/>
              </a:rPr>
              <a:t>  </a:t>
            </a:r>
            <a:r>
              <a:rPr sz="950" dirty="0">
                <a:solidFill>
                  <a:srgbClr val="262626"/>
                </a:solidFill>
                <a:latin typeface="Cambria"/>
                <a:cs typeface="Cambria"/>
                <a:hlinkClick r:id="rId5"/>
              </a:rPr>
              <a:t>ations@files-store-</a:t>
            </a:r>
            <a:r>
              <a:rPr sz="950" spc="35" dirty="0">
                <a:solidFill>
                  <a:srgbClr val="262626"/>
                </a:solidFill>
                <a:latin typeface="Cambria"/>
                <a:cs typeface="Cambria"/>
                <a:hlinkClick r:id="rId5"/>
              </a:rPr>
              <a:t>services.com›</a:t>
            </a:r>
            <a:r>
              <a:rPr sz="950" dirty="0">
                <a:solidFill>
                  <a:srgbClr val="262626"/>
                </a:solidFill>
                <a:latin typeface="Cambria"/>
                <a:cs typeface="Cambria"/>
              </a:rPr>
              <a:t>	</a:t>
            </a:r>
            <a:r>
              <a:rPr sz="950" spc="-25" dirty="0">
                <a:solidFill>
                  <a:srgbClr val="9E8A69"/>
                </a:solidFill>
                <a:latin typeface="Cambria"/>
                <a:cs typeface="Cambria"/>
              </a:rPr>
              <a:t>.“</a:t>
            </a:r>
            <a:endParaRPr sz="950">
              <a:latin typeface="Cambria"/>
              <a:cs typeface="Cambria"/>
            </a:endParaRPr>
          </a:p>
          <a:p>
            <a:pPr marL="27940">
              <a:lnSpc>
                <a:spcPct val="100000"/>
              </a:lnSpc>
              <a:spcBef>
                <a:spcPts val="60"/>
              </a:spcBef>
              <a:tabLst>
                <a:tab pos="1507490" algn="l"/>
              </a:tabLst>
            </a:pPr>
            <a:r>
              <a:rPr sz="1250" spc="55" dirty="0">
                <a:solidFill>
                  <a:srgbClr val="242424"/>
                </a:solidFill>
                <a:latin typeface="Consolas"/>
                <a:cs typeface="Consolas"/>
              </a:rPr>
              <a:t>Ym </a:t>
            </a:r>
            <a:r>
              <a:rPr sz="1250" spc="-10" dirty="0">
                <a:solidFill>
                  <a:srgbClr val="242424"/>
                </a:solidFill>
                <a:latin typeface="Consolas"/>
                <a:cs typeface="Consolas"/>
              </a:rPr>
              <a:t>fiosaogc‹sâmo</a:t>
            </a:r>
            <a:r>
              <a:rPr sz="1250" dirty="0">
                <a:solidFill>
                  <a:srgbClr val="242424"/>
                </a:solidFill>
                <a:latin typeface="Consolas"/>
                <a:cs typeface="Consolas"/>
              </a:rPr>
              <a:t>	</a:t>
            </a:r>
            <a:r>
              <a:rPr sz="1250" spc="-405" dirty="0">
                <a:solidFill>
                  <a:srgbClr val="282828"/>
                </a:solidFill>
                <a:latin typeface="Consolas"/>
                <a:cs typeface="Consolas"/>
              </a:rPr>
              <a:t>full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58789" y="4589286"/>
            <a:ext cx="1036955" cy="332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10" dirty="0">
                <a:solidFill>
                  <a:srgbClr val="2A2A2A"/>
                </a:solidFill>
                <a:latin typeface="Cambria"/>
                <a:cs typeface="Cambria"/>
              </a:rPr>
              <a:t>FiieStore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27286" y="5392561"/>
            <a:ext cx="330200" cy="237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-80" dirty="0">
                <a:solidFill>
                  <a:srgbClr val="1A1A1A"/>
                </a:solidFill>
                <a:latin typeface="Calibri"/>
                <a:cs typeface="Calibri"/>
              </a:rPr>
              <a:t>Hello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39576" y="5729463"/>
            <a:ext cx="4058285" cy="4572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300" spc="-90" dirty="0">
                <a:latin typeface="Calibri"/>
                <a:cs typeface="Calibri"/>
              </a:rPr>
              <a:t>YoiJr</a:t>
            </a:r>
            <a:r>
              <a:rPr sz="1300" spc="-80" dirty="0">
                <a:latin typeface="Calibri"/>
                <a:cs typeface="Calibri"/>
              </a:rPr>
              <a:t> </a:t>
            </a:r>
            <a:r>
              <a:rPr sz="1300" spc="-55" dirty="0">
                <a:latin typeface="Calibri"/>
                <a:cs typeface="Calibri"/>
              </a:rPr>
              <a:t>FileStore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60" dirty="0">
                <a:solidFill>
                  <a:srgbClr val="0C0C0C"/>
                </a:solidFill>
                <a:latin typeface="Calibri"/>
                <a:cs typeface="Calibri"/>
              </a:rPr>
              <a:t>account</a:t>
            </a:r>
            <a:r>
              <a:rPr sz="1300" spc="20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42424"/>
                </a:solidFill>
                <a:latin typeface="Calibri"/>
                <a:cs typeface="Calibri"/>
              </a:rPr>
              <a:t>s</a:t>
            </a:r>
            <a:r>
              <a:rPr sz="1300" spc="-3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300" spc="-90" dirty="0">
                <a:solidFill>
                  <a:srgbClr val="0F0F0F"/>
                </a:solidFill>
                <a:latin typeface="Calibri"/>
                <a:cs typeface="Calibri"/>
              </a:rPr>
              <a:t>currently</a:t>
            </a:r>
            <a:r>
              <a:rPr sz="1300" spc="3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300" spc="-45" dirty="0">
                <a:solidFill>
                  <a:srgbClr val="232323"/>
                </a:solidFill>
                <a:latin typeface="Calibri"/>
                <a:cs typeface="Calibri"/>
              </a:rPr>
              <a:t>us</a:t>
            </a:r>
            <a:r>
              <a:rPr sz="13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300" spc="-100" dirty="0">
                <a:solidFill>
                  <a:srgbClr val="1C1C1C"/>
                </a:solidFill>
                <a:latin typeface="Calibri"/>
                <a:cs typeface="Calibri"/>
              </a:rPr>
              <a:t>ng</a:t>
            </a:r>
            <a:r>
              <a:rPr sz="1300" spc="2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latin typeface="Calibri"/>
                <a:cs typeface="Calibri"/>
              </a:rPr>
              <a:t>98%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spc="-100" dirty="0">
                <a:latin typeface="Calibri"/>
                <a:cs typeface="Calibri"/>
              </a:rPr>
              <a:t>of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D2D2D"/>
                </a:solidFill>
                <a:latin typeface="Calibri"/>
                <a:cs typeface="Calibri"/>
              </a:rPr>
              <a:t>ib</a:t>
            </a:r>
            <a:r>
              <a:rPr sz="1300" spc="23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300" spc="-80" dirty="0">
                <a:latin typeface="Calibri"/>
                <a:cs typeface="Calibri"/>
              </a:rPr>
              <a:t>storage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spc="-45" dirty="0">
                <a:solidFill>
                  <a:srgbClr val="282828"/>
                </a:solidFill>
                <a:latin typeface="Calibri"/>
                <a:cs typeface="Calibri"/>
              </a:rPr>
              <a:t>capacity</a:t>
            </a:r>
            <a:endParaRPr sz="1300">
              <a:latin typeface="Calibri"/>
              <a:cs typeface="Calibri"/>
            </a:endParaRPr>
          </a:p>
          <a:p>
            <a:pPr marL="14604">
              <a:lnSpc>
                <a:spcPct val="100000"/>
              </a:lnSpc>
              <a:spcBef>
                <a:spcPts val="140"/>
              </a:spcBef>
            </a:pPr>
            <a:r>
              <a:rPr sz="1300" spc="-240" dirty="0">
                <a:latin typeface="Arial MT"/>
                <a:cs typeface="Arial MT"/>
              </a:rPr>
              <a:t>You</a:t>
            </a:r>
            <a:r>
              <a:rPr sz="1300" spc="-15" dirty="0">
                <a:latin typeface="Arial MT"/>
                <a:cs typeface="Arial MT"/>
              </a:rPr>
              <a:t> </a:t>
            </a:r>
            <a:r>
              <a:rPr sz="1300" spc="-130" dirty="0">
                <a:latin typeface="Arial MT"/>
                <a:cs typeface="Arial MT"/>
              </a:rPr>
              <a:t>are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40" dirty="0">
                <a:latin typeface="Arial MT"/>
                <a:cs typeface="Arial MT"/>
              </a:rPr>
              <a:t>at</a:t>
            </a:r>
            <a:r>
              <a:rPr sz="1300" spc="65" dirty="0">
                <a:latin typeface="Arial MT"/>
                <a:cs typeface="Arial MT"/>
              </a:rPr>
              <a:t> </a:t>
            </a:r>
            <a:r>
              <a:rPr sz="1300" spc="-135" dirty="0">
                <a:latin typeface="Arial MT"/>
                <a:cs typeface="Arial MT"/>
              </a:rPr>
              <a:t>fish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spc="-114" dirty="0">
                <a:latin typeface="Arial MT"/>
                <a:cs typeface="Arial MT"/>
              </a:rPr>
              <a:t>of</a:t>
            </a:r>
            <a:r>
              <a:rPr sz="1300" spc="-75" dirty="0">
                <a:latin typeface="Arial MT"/>
                <a:cs typeface="Arial MT"/>
              </a:rPr>
              <a:t> </a:t>
            </a:r>
            <a:r>
              <a:rPr sz="1300" spc="55" dirty="0">
                <a:solidFill>
                  <a:srgbClr val="2F2F2F"/>
                </a:solidFill>
                <a:latin typeface="Arial MT"/>
                <a:cs typeface="Arial MT"/>
              </a:rPr>
              <a:t>nd</a:t>
            </a:r>
            <a:r>
              <a:rPr sz="1300" spc="-12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300" spc="-135" dirty="0">
                <a:solidFill>
                  <a:srgbClr val="4D4D4D"/>
                </a:solidFill>
                <a:latin typeface="Arial MT"/>
                <a:cs typeface="Arial MT"/>
              </a:rPr>
              <a:t>being</a:t>
            </a:r>
            <a:r>
              <a:rPr sz="1300" spc="1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300" spc="-140" dirty="0">
                <a:latin typeface="Arial MT"/>
                <a:cs typeface="Arial MT"/>
              </a:rPr>
              <a:t>able</a:t>
            </a:r>
            <a:r>
              <a:rPr sz="1300" spc="-45" dirty="0">
                <a:latin typeface="Arial MT"/>
                <a:cs typeface="Arial MT"/>
              </a:rPr>
              <a:t> </a:t>
            </a:r>
            <a:r>
              <a:rPr sz="1300" spc="-80" dirty="0">
                <a:solidFill>
                  <a:srgbClr val="2F2F2F"/>
                </a:solidFill>
                <a:latin typeface="Arial MT"/>
                <a:cs typeface="Arial MT"/>
              </a:rPr>
              <a:t>to</a:t>
            </a:r>
            <a:r>
              <a:rPr sz="1300" spc="-6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300" spc="-160" dirty="0">
                <a:latin typeface="Arial MT"/>
                <a:cs typeface="Arial MT"/>
              </a:rPr>
              <a:t>upload</a:t>
            </a:r>
            <a:r>
              <a:rPr sz="1300" spc="45" dirty="0"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D5D5D"/>
                </a:solidFill>
                <a:latin typeface="Arial MT"/>
                <a:cs typeface="Arial MT"/>
              </a:rPr>
              <a:t>oi</a:t>
            </a:r>
            <a:r>
              <a:rPr sz="1300" spc="-6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1300" spc="-155" dirty="0">
                <a:latin typeface="Arial MT"/>
                <a:cs typeface="Arial MT"/>
              </a:rPr>
              <a:t>sync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200" dirty="0">
                <a:solidFill>
                  <a:srgbClr val="111111"/>
                </a:solidFill>
                <a:latin typeface="Arial MT"/>
                <a:cs typeface="Arial MT"/>
              </a:rPr>
              <a:t>new</a:t>
            </a:r>
            <a:r>
              <a:rPr sz="1300" spc="4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300" spc="-70" dirty="0">
                <a:solidFill>
                  <a:srgbClr val="131313"/>
                </a:solidFill>
                <a:latin typeface="Arial MT"/>
                <a:cs typeface="Arial MT"/>
              </a:rPr>
              <a:t>liles</a:t>
            </a:r>
            <a:r>
              <a:rPr sz="1300" spc="3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282828"/>
                </a:solidFill>
                <a:latin typeface="Arial MT"/>
                <a:cs typeface="Arial MT"/>
              </a:rPr>
              <a:t>soon.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708708" y="3599038"/>
            <a:ext cx="557022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10"/>
              </a:spcBef>
            </a:pPr>
            <a:r>
              <a:rPr sz="2350" spc="-200" dirty="0">
                <a:latin typeface="Cambria"/>
                <a:cs typeface="Cambria"/>
              </a:rPr>
              <a:t>The</a:t>
            </a:r>
            <a:r>
              <a:rPr sz="2350" spc="80" dirty="0">
                <a:latin typeface="Cambria"/>
                <a:cs typeface="Cambria"/>
              </a:rPr>
              <a:t> </a:t>
            </a:r>
            <a:r>
              <a:rPr sz="2350" spc="-204" dirty="0">
                <a:latin typeface="Cambria"/>
                <a:cs typeface="Cambria"/>
              </a:rPr>
              <a:t>sender's</a:t>
            </a:r>
            <a:r>
              <a:rPr sz="2350" spc="20" dirty="0">
                <a:latin typeface="Cambria"/>
                <a:cs typeface="Cambria"/>
              </a:rPr>
              <a:t> </a:t>
            </a:r>
            <a:r>
              <a:rPr sz="2350" spc="-170" dirty="0">
                <a:latin typeface="Cambria"/>
                <a:cs typeface="Cambria"/>
              </a:rPr>
              <a:t>domain</a:t>
            </a:r>
            <a:r>
              <a:rPr sz="2350" spc="50" dirty="0">
                <a:latin typeface="Cambria"/>
                <a:cs typeface="Cambria"/>
              </a:rPr>
              <a:t> </a:t>
            </a:r>
            <a:r>
              <a:rPr sz="2350" spc="-120" dirty="0">
                <a:latin typeface="Cambria"/>
                <a:cs typeface="Cambria"/>
              </a:rPr>
              <a:t>is</a:t>
            </a:r>
            <a:r>
              <a:rPr sz="2350" spc="-185" dirty="0">
                <a:latin typeface="Cambria"/>
                <a:cs typeface="Cambria"/>
              </a:rPr>
              <a:t> </a:t>
            </a:r>
            <a:r>
              <a:rPr sz="2350" spc="-140" dirty="0">
                <a:latin typeface="Cambria"/>
                <a:cs typeface="Cambria"/>
              </a:rPr>
              <a:t>slightly</a:t>
            </a:r>
            <a:r>
              <a:rPr sz="2350" spc="170" dirty="0">
                <a:latin typeface="Cambria"/>
                <a:cs typeface="Cambria"/>
              </a:rPr>
              <a:t> </a:t>
            </a:r>
            <a:r>
              <a:rPr sz="2350" spc="-125" dirty="0">
                <a:latin typeface="Cambria"/>
                <a:cs typeface="Cambria"/>
              </a:rPr>
              <a:t>off</a:t>
            </a:r>
            <a:r>
              <a:rPr sz="2350" spc="-35" dirty="0">
                <a:latin typeface="Cambria"/>
                <a:cs typeface="Cambria"/>
              </a:rPr>
              <a:t> </a:t>
            </a:r>
            <a:r>
              <a:rPr sz="2350" spc="-10" dirty="0">
                <a:latin typeface="Cambria"/>
                <a:cs typeface="Cambria"/>
              </a:rPr>
              <a:t>(e.g.,</a:t>
            </a:r>
            <a:endParaRPr sz="2350">
              <a:latin typeface="Cambria"/>
              <a:cs typeface="Cambria"/>
            </a:endParaRPr>
          </a:p>
          <a:p>
            <a:pPr marL="12700">
              <a:lnSpc>
                <a:spcPts val="2675"/>
              </a:lnSpc>
            </a:pPr>
            <a:r>
              <a:rPr sz="2300" spc="-110" dirty="0">
                <a:latin typeface="Cambria"/>
                <a:cs typeface="Cambria"/>
              </a:rPr>
              <a:t>’fileshare-</a:t>
            </a:r>
            <a:r>
              <a:rPr sz="2300" spc="-130" dirty="0">
                <a:latin typeface="Cambria"/>
                <a:cs typeface="Cambria"/>
              </a:rPr>
              <a:t>support.com’</a:t>
            </a:r>
            <a:r>
              <a:rPr sz="2300" spc="-90" dirty="0">
                <a:latin typeface="Cambria"/>
                <a:cs typeface="Cambria"/>
              </a:rPr>
              <a:t> </a:t>
            </a:r>
            <a:r>
              <a:rPr sz="2300" spc="-145" dirty="0">
                <a:latin typeface="Cambria"/>
                <a:cs typeface="Cambria"/>
              </a:rPr>
              <a:t>instead</a:t>
            </a:r>
            <a:r>
              <a:rPr sz="2300" spc="75" dirty="0">
                <a:latin typeface="Cambria"/>
                <a:cs typeface="Cambria"/>
              </a:rPr>
              <a:t> </a:t>
            </a:r>
            <a:r>
              <a:rPr sz="2300" spc="-60" dirty="0">
                <a:latin typeface="Cambria"/>
                <a:cs typeface="Cambria"/>
              </a:rPr>
              <a:t>of'fileshare.com').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32200" y="7026980"/>
            <a:ext cx="4250690" cy="5676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300" spc="-140" dirty="0">
                <a:solidFill>
                  <a:srgbClr val="181818"/>
                </a:solidFill>
                <a:latin typeface="Cambria"/>
                <a:cs typeface="Cambria"/>
              </a:rPr>
              <a:t>For</a:t>
            </a:r>
            <a:r>
              <a:rPr sz="1300" spc="-5" dirty="0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sz="1300" spc="-175" dirty="0">
                <a:solidFill>
                  <a:srgbClr val="2A2A2A"/>
                </a:solidFill>
                <a:latin typeface="Cambria"/>
                <a:cs typeface="Cambria"/>
              </a:rPr>
              <a:t>more</a:t>
            </a:r>
            <a:r>
              <a:rPr sz="1300" spc="85" dirty="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sz="1300" spc="-155" dirty="0">
                <a:latin typeface="Cambria"/>
                <a:cs typeface="Cambria"/>
              </a:rPr>
              <a:t>information</a:t>
            </a:r>
            <a:r>
              <a:rPr sz="1300" spc="170" dirty="0">
                <a:latin typeface="Cambria"/>
                <a:cs typeface="Cambria"/>
              </a:rPr>
              <a:t> </a:t>
            </a:r>
            <a:r>
              <a:rPr sz="1300" spc="-110" dirty="0">
                <a:solidFill>
                  <a:srgbClr val="0C0C0C"/>
                </a:solidFill>
                <a:latin typeface="Cambria"/>
                <a:cs typeface="Cambria"/>
              </a:rPr>
              <a:t>aboul</a:t>
            </a:r>
            <a:r>
              <a:rPr sz="1300" spc="125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1300" spc="-165" dirty="0">
                <a:latin typeface="Cambria"/>
                <a:cs typeface="Cambria"/>
              </a:rPr>
              <a:t>your</a:t>
            </a:r>
            <a:r>
              <a:rPr sz="1300" spc="-15" dirty="0">
                <a:latin typeface="Cambria"/>
                <a:cs typeface="Cambria"/>
              </a:rPr>
              <a:t> </a:t>
            </a:r>
            <a:r>
              <a:rPr sz="1300" spc="-105" dirty="0">
                <a:solidFill>
                  <a:srgbClr val="212121"/>
                </a:solidFill>
                <a:latin typeface="Cambria"/>
                <a:cs typeface="Cambria"/>
              </a:rPr>
              <a:t>slorage</a:t>
            </a:r>
            <a:r>
              <a:rPr sz="1300" spc="2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85" dirty="0">
                <a:latin typeface="Cambria"/>
                <a:cs typeface="Cambria"/>
              </a:rPr>
              <a:t>plan,</a:t>
            </a:r>
            <a:r>
              <a:rPr sz="1300" spc="90" dirty="0">
                <a:latin typeface="Cambria"/>
                <a:cs typeface="Cambria"/>
              </a:rPr>
              <a:t> </a:t>
            </a:r>
            <a:r>
              <a:rPr sz="1300" spc="-135" dirty="0">
                <a:solidFill>
                  <a:srgbClr val="242424"/>
                </a:solidFill>
                <a:latin typeface="Cambria"/>
                <a:cs typeface="Cambria"/>
              </a:rPr>
              <a:t>visit</a:t>
            </a:r>
            <a:r>
              <a:rPr sz="1300" spc="145" dirty="0">
                <a:solidFill>
                  <a:srgbClr val="242424"/>
                </a:solidFill>
                <a:latin typeface="Cambria"/>
                <a:cs typeface="Cambria"/>
              </a:rPr>
              <a:t> </a:t>
            </a:r>
            <a:r>
              <a:rPr sz="1300" spc="-190" dirty="0">
                <a:latin typeface="Cambria"/>
                <a:cs typeface="Cambria"/>
              </a:rPr>
              <a:t>your</a:t>
            </a:r>
            <a:r>
              <a:rPr sz="1300" dirty="0">
                <a:latin typeface="Cambria"/>
                <a:cs typeface="Cambria"/>
              </a:rPr>
              <a:t> </a:t>
            </a:r>
            <a:r>
              <a:rPr sz="1300" spc="-110" dirty="0">
                <a:latin typeface="Cambria"/>
                <a:cs typeface="Cambria"/>
              </a:rPr>
              <a:t>account</a:t>
            </a:r>
            <a:r>
              <a:rPr sz="1300" spc="35" dirty="0">
                <a:latin typeface="Cambria"/>
                <a:cs typeface="Cambria"/>
              </a:rPr>
              <a:t> </a:t>
            </a:r>
            <a:r>
              <a:rPr sz="1300" spc="-10" dirty="0">
                <a:solidFill>
                  <a:srgbClr val="151515"/>
                </a:solidFill>
                <a:latin typeface="Cambria"/>
                <a:cs typeface="Cambria"/>
              </a:rPr>
              <a:t>sitings</a:t>
            </a:r>
            <a:endParaRPr sz="13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sz="1250" spc="-45" dirty="0">
                <a:solidFill>
                  <a:srgbClr val="131313"/>
                </a:solidFill>
                <a:latin typeface="Cambria"/>
                <a:cs typeface="Cambria"/>
              </a:rPr>
              <a:t>If}0U</a:t>
            </a:r>
            <a:r>
              <a:rPr sz="1250" spc="-4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50" spc="-100" dirty="0">
                <a:latin typeface="Cambria"/>
                <a:cs typeface="Cambria"/>
              </a:rPr>
              <a:t>didn't</a:t>
            </a:r>
            <a:r>
              <a:rPr sz="1250" spc="35" dirty="0">
                <a:latin typeface="Cambria"/>
                <a:cs typeface="Cambria"/>
              </a:rPr>
              <a:t> </a:t>
            </a:r>
            <a:r>
              <a:rPr sz="1250" spc="-85" dirty="0">
                <a:latin typeface="Cambria"/>
                <a:cs typeface="Cambria"/>
              </a:rPr>
              <a:t>expect</a:t>
            </a:r>
            <a:r>
              <a:rPr sz="1250" spc="55" dirty="0">
                <a:latin typeface="Cambria"/>
                <a:cs typeface="Cambria"/>
              </a:rPr>
              <a:t> </a:t>
            </a:r>
            <a:r>
              <a:rPr sz="1250" spc="-95" dirty="0">
                <a:solidFill>
                  <a:srgbClr val="131313"/>
                </a:solidFill>
                <a:latin typeface="Cambria"/>
                <a:cs typeface="Cambria"/>
              </a:rPr>
              <a:t>this</a:t>
            </a:r>
            <a:r>
              <a:rPr sz="1250" spc="3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1250" spc="-105" dirty="0">
                <a:solidFill>
                  <a:srgbClr val="0F0F0F"/>
                </a:solidFill>
                <a:latin typeface="Cambria"/>
                <a:cs typeface="Cambria"/>
              </a:rPr>
              <a:t>emBil,</a:t>
            </a:r>
            <a:r>
              <a:rPr sz="1250" spc="50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1250" spc="-60" dirty="0">
                <a:solidFill>
                  <a:srgbClr val="0F0F0F"/>
                </a:solidFill>
                <a:latin typeface="Cambria"/>
                <a:cs typeface="Cambria"/>
              </a:rPr>
              <a:t>please</a:t>
            </a:r>
            <a:r>
              <a:rPr sz="1250" spc="60" dirty="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1250" spc="-45" dirty="0">
                <a:solidFill>
                  <a:srgbClr val="282828"/>
                </a:solidFill>
                <a:latin typeface="Cambria"/>
                <a:cs typeface="Cambria"/>
              </a:rPr>
              <a:t>gnore</a:t>
            </a:r>
            <a:r>
              <a:rPr sz="1250" spc="-20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1250" spc="-25" dirty="0">
                <a:solidFill>
                  <a:srgbClr val="131313"/>
                </a:solidFill>
                <a:latin typeface="Cambria"/>
                <a:cs typeface="Cambria"/>
              </a:rPr>
              <a:t>it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165745" y="6103408"/>
            <a:ext cx="4137025" cy="103505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indent="224790">
              <a:lnSpc>
                <a:spcPts val="2600"/>
              </a:lnSpc>
              <a:spcBef>
                <a:spcPts val="310"/>
              </a:spcBef>
            </a:pPr>
            <a:r>
              <a:rPr sz="2300" spc="-155" dirty="0">
                <a:latin typeface="Cambria"/>
                <a:cs typeface="Cambria"/>
              </a:rPr>
              <a:t>Hovering</a:t>
            </a:r>
            <a:r>
              <a:rPr sz="2300" spc="90" dirty="0">
                <a:latin typeface="Cambria"/>
                <a:cs typeface="Cambria"/>
              </a:rPr>
              <a:t> </a:t>
            </a:r>
            <a:r>
              <a:rPr sz="2300" spc="-190" dirty="0">
                <a:latin typeface="Cambria"/>
                <a:cs typeface="Cambria"/>
              </a:rPr>
              <a:t>over</a:t>
            </a:r>
            <a:r>
              <a:rPr sz="2300" dirty="0">
                <a:latin typeface="Cambria"/>
                <a:cs typeface="Cambria"/>
              </a:rPr>
              <a:t> </a:t>
            </a:r>
            <a:r>
              <a:rPr sz="2300" spc="-160" dirty="0">
                <a:latin typeface="Cambria"/>
                <a:cs typeface="Cambria"/>
              </a:rPr>
              <a:t>the</a:t>
            </a:r>
            <a:r>
              <a:rPr sz="2300" spc="-30" dirty="0">
                <a:latin typeface="Cambria"/>
                <a:cs typeface="Cambria"/>
              </a:rPr>
              <a:t> </a:t>
            </a:r>
            <a:r>
              <a:rPr sz="2300" spc="-150" dirty="0">
                <a:latin typeface="Cambria"/>
                <a:cs typeface="Cambria"/>
              </a:rPr>
              <a:t>“Upgrade</a:t>
            </a:r>
            <a:r>
              <a:rPr sz="2300" spc="85" dirty="0">
                <a:latin typeface="Cambria"/>
                <a:cs typeface="Cambria"/>
              </a:rPr>
              <a:t> </a:t>
            </a:r>
            <a:r>
              <a:rPr sz="2300" spc="-20" dirty="0">
                <a:latin typeface="Cambria"/>
                <a:cs typeface="Cambria"/>
              </a:rPr>
              <a:t>Your </a:t>
            </a:r>
            <a:r>
              <a:rPr sz="2300" spc="-135" dirty="0">
                <a:latin typeface="Cambria"/>
                <a:cs typeface="Cambria"/>
              </a:rPr>
              <a:t>Account"</a:t>
            </a:r>
            <a:r>
              <a:rPr sz="2300" spc="-45" dirty="0">
                <a:latin typeface="Cambria"/>
                <a:cs typeface="Cambria"/>
              </a:rPr>
              <a:t> </a:t>
            </a:r>
            <a:r>
              <a:rPr sz="2300" spc="-160" dirty="0">
                <a:latin typeface="Cambria"/>
                <a:cs typeface="Cambria"/>
              </a:rPr>
              <a:t>button</a:t>
            </a:r>
            <a:r>
              <a:rPr sz="2300" spc="50" dirty="0">
                <a:latin typeface="Cambria"/>
                <a:cs typeface="Cambria"/>
              </a:rPr>
              <a:t> </a:t>
            </a:r>
            <a:r>
              <a:rPr sz="2300" spc="-160" dirty="0">
                <a:latin typeface="Cambria"/>
                <a:cs typeface="Cambria"/>
              </a:rPr>
              <a:t>reveals</a:t>
            </a:r>
            <a:r>
              <a:rPr sz="2300" spc="30" dirty="0">
                <a:latin typeface="Cambria"/>
                <a:cs typeface="Cambria"/>
              </a:rPr>
              <a:t> </a:t>
            </a:r>
            <a:r>
              <a:rPr sz="2300" spc="-120" dirty="0">
                <a:latin typeface="Cambria"/>
                <a:cs typeface="Cambria"/>
              </a:rPr>
              <a:t>a</a:t>
            </a:r>
            <a:r>
              <a:rPr sz="2300" spc="-135" dirty="0">
                <a:latin typeface="Cambria"/>
                <a:cs typeface="Cambria"/>
              </a:rPr>
              <a:t> </a:t>
            </a:r>
            <a:r>
              <a:rPr sz="2300" spc="-110" dirty="0">
                <a:latin typeface="Cambria"/>
                <a:cs typeface="Cambria"/>
              </a:rPr>
              <a:t>URL</a:t>
            </a:r>
            <a:r>
              <a:rPr sz="2300" spc="95" dirty="0">
                <a:latin typeface="Cambria"/>
                <a:cs typeface="Cambria"/>
              </a:rPr>
              <a:t> </a:t>
            </a:r>
            <a:r>
              <a:rPr sz="2300" spc="-170" dirty="0">
                <a:latin typeface="Cambria"/>
                <a:cs typeface="Cambria"/>
              </a:rPr>
              <a:t>that</a:t>
            </a:r>
            <a:r>
              <a:rPr sz="2300" spc="5" dirty="0">
                <a:latin typeface="Cambria"/>
                <a:cs typeface="Cambria"/>
              </a:rPr>
              <a:t> </a:t>
            </a:r>
            <a:r>
              <a:rPr sz="2300" spc="-25" dirty="0">
                <a:latin typeface="Cambria"/>
                <a:cs typeface="Cambria"/>
              </a:rPr>
              <a:t>is </a:t>
            </a:r>
            <a:r>
              <a:rPr sz="2300" spc="-175" dirty="0">
                <a:latin typeface="Cambria"/>
                <a:cs typeface="Cambria"/>
              </a:rPr>
              <a:t>not</a:t>
            </a:r>
            <a:r>
              <a:rPr sz="2300" spc="50" dirty="0">
                <a:latin typeface="Cambria"/>
                <a:cs typeface="Cambria"/>
              </a:rPr>
              <a:t> </a:t>
            </a:r>
            <a:r>
              <a:rPr sz="2300" spc="-160" dirty="0">
                <a:latin typeface="Cambria"/>
                <a:cs typeface="Cambria"/>
              </a:rPr>
              <a:t>the</a:t>
            </a:r>
            <a:r>
              <a:rPr sz="2300" spc="-130" dirty="0">
                <a:latin typeface="Cambria"/>
                <a:cs typeface="Cambria"/>
              </a:rPr>
              <a:t> </a:t>
            </a:r>
            <a:r>
              <a:rPr sz="2300" spc="-95" dirty="0">
                <a:latin typeface="Cambria"/>
                <a:cs typeface="Cambria"/>
              </a:rPr>
              <a:t>official</a:t>
            </a:r>
            <a:r>
              <a:rPr sz="2300" spc="5" dirty="0">
                <a:latin typeface="Cambria"/>
                <a:cs typeface="Cambria"/>
              </a:rPr>
              <a:t> </a:t>
            </a:r>
            <a:r>
              <a:rPr sz="2300" spc="-165" dirty="0">
                <a:latin typeface="Cambria"/>
                <a:cs typeface="Cambria"/>
              </a:rPr>
              <a:t>domain</a:t>
            </a:r>
            <a:r>
              <a:rPr sz="2300" spc="35" dirty="0">
                <a:latin typeface="Cambria"/>
                <a:cs typeface="Cambria"/>
              </a:rPr>
              <a:t> </a:t>
            </a:r>
            <a:r>
              <a:rPr sz="2300" spc="-45" dirty="0">
                <a:latin typeface="Cambria"/>
                <a:cs typeface="Cambria"/>
              </a:rPr>
              <a:t>of</a:t>
            </a:r>
            <a:r>
              <a:rPr sz="2300" spc="5" dirty="0">
                <a:latin typeface="Cambria"/>
                <a:cs typeface="Cambria"/>
              </a:rPr>
              <a:t> </a:t>
            </a:r>
            <a:r>
              <a:rPr sz="2300" spc="-160" dirty="0">
                <a:latin typeface="Cambria"/>
                <a:cs typeface="Cambria"/>
              </a:rPr>
              <a:t>the</a:t>
            </a:r>
            <a:r>
              <a:rPr sz="2300" spc="-15" dirty="0">
                <a:latin typeface="Cambria"/>
                <a:cs typeface="Cambria"/>
              </a:rPr>
              <a:t> </a:t>
            </a:r>
            <a:r>
              <a:rPr sz="2300" spc="-75" dirty="0">
                <a:latin typeface="Cambria"/>
                <a:cs typeface="Cambria"/>
              </a:rPr>
              <a:t>service.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4983" y="8434916"/>
            <a:ext cx="15574644" cy="821690"/>
          </a:xfrm>
          <a:prstGeom prst="rect">
            <a:avLst/>
          </a:prstGeom>
          <a:ln w="21166">
            <a:solidFill>
              <a:srgbClr val="4B5B70"/>
            </a:solidFill>
          </a:ln>
        </p:spPr>
        <p:txBody>
          <a:bodyPr vert="horz" wrap="square" lIns="0" tIns="130810" rIns="0" bIns="0" rtlCol="0">
            <a:spAutoFit/>
          </a:bodyPr>
          <a:lstStyle/>
          <a:p>
            <a:pPr marL="313055">
              <a:lnSpc>
                <a:spcPct val="100000"/>
              </a:lnSpc>
              <a:spcBef>
                <a:spcPts val="1030"/>
              </a:spcBef>
            </a:pPr>
            <a:r>
              <a:rPr sz="2900" spc="-310" dirty="0">
                <a:latin typeface="Times New Roman"/>
                <a:cs typeface="Times New Roman"/>
              </a:rPr>
              <a:t>Key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spc="-130" dirty="0">
                <a:latin typeface="Times New Roman"/>
                <a:cs typeface="Times New Roman"/>
              </a:rPr>
              <a:t>Takeaway:</a:t>
            </a:r>
            <a:r>
              <a:rPr sz="2900" spc="-55" dirty="0">
                <a:latin typeface="Times New Roman"/>
                <a:cs typeface="Times New Roman"/>
              </a:rPr>
              <a:t> </a:t>
            </a:r>
            <a:r>
              <a:rPr sz="2900" spc="-280" dirty="0">
                <a:latin typeface="Times New Roman"/>
                <a:cs typeface="Times New Roman"/>
              </a:rPr>
              <a:t>Always</a:t>
            </a:r>
            <a:r>
              <a:rPr sz="2900" spc="65" dirty="0">
                <a:latin typeface="Times New Roman"/>
                <a:cs typeface="Times New Roman"/>
              </a:rPr>
              <a:t> </a:t>
            </a:r>
            <a:r>
              <a:rPr sz="2900" spc="-165" dirty="0">
                <a:latin typeface="Times New Roman"/>
                <a:cs typeface="Times New Roman"/>
              </a:rPr>
              <a:t>verify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-80" dirty="0">
                <a:latin typeface="Times New Roman"/>
                <a:cs typeface="Times New Roman"/>
              </a:rPr>
              <a:t>the</a:t>
            </a:r>
            <a:r>
              <a:rPr sz="2900" spc="-185" dirty="0">
                <a:latin typeface="Times New Roman"/>
                <a:cs typeface="Times New Roman"/>
              </a:rPr>
              <a:t> </a:t>
            </a:r>
            <a:r>
              <a:rPr sz="2900" spc="-70" dirty="0">
                <a:latin typeface="Times New Roman"/>
                <a:cs typeface="Times New Roman"/>
              </a:rPr>
              <a:t>sender</a:t>
            </a:r>
            <a:r>
              <a:rPr sz="2900" spc="-110" dirty="0">
                <a:latin typeface="Times New Roman"/>
                <a:cs typeface="Times New Roman"/>
              </a:rPr>
              <a:t> </a:t>
            </a:r>
            <a:r>
              <a:rPr sz="2900" spc="-105" dirty="0">
                <a:latin typeface="Times New Roman"/>
                <a:cs typeface="Times New Roman"/>
              </a:rPr>
              <a:t>and</a:t>
            </a:r>
            <a:r>
              <a:rPr sz="2900" spc="-125" dirty="0">
                <a:latin typeface="Times New Roman"/>
                <a:cs typeface="Times New Roman"/>
              </a:rPr>
              <a:t> </a:t>
            </a:r>
            <a:r>
              <a:rPr sz="2900" spc="-100" dirty="0">
                <a:latin typeface="Times New Roman"/>
                <a:cs typeface="Times New Roman"/>
              </a:rPr>
              <a:t>links,</a:t>
            </a:r>
            <a:r>
              <a:rPr sz="2900" spc="-80" dirty="0">
                <a:latin typeface="Times New Roman"/>
                <a:cs typeface="Times New Roman"/>
              </a:rPr>
              <a:t> </a:t>
            </a:r>
            <a:r>
              <a:rPr sz="2900" spc="-130" dirty="0">
                <a:latin typeface="Times New Roman"/>
                <a:cs typeface="Times New Roman"/>
              </a:rPr>
              <a:t>especially</a:t>
            </a:r>
            <a:r>
              <a:rPr sz="2900" spc="85" dirty="0">
                <a:latin typeface="Times New Roman"/>
                <a:cs typeface="Times New Roman"/>
              </a:rPr>
              <a:t> </a:t>
            </a:r>
            <a:r>
              <a:rPr sz="2900" spc="-180" dirty="0">
                <a:latin typeface="Times New Roman"/>
                <a:cs typeface="Times New Roman"/>
              </a:rPr>
              <a:t>when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spc="-105" dirty="0">
                <a:latin typeface="Times New Roman"/>
                <a:cs typeface="Times New Roman"/>
              </a:rPr>
              <a:t>an</a:t>
            </a:r>
            <a:r>
              <a:rPr sz="2900" spc="-90" dirty="0">
                <a:latin typeface="Times New Roman"/>
                <a:cs typeface="Times New Roman"/>
              </a:rPr>
              <a:t> </a:t>
            </a:r>
            <a:r>
              <a:rPr sz="2900" spc="-135" dirty="0">
                <a:latin typeface="Times New Roman"/>
                <a:cs typeface="Times New Roman"/>
              </a:rPr>
              <a:t>email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spc="-125" dirty="0">
                <a:latin typeface="Times New Roman"/>
                <a:cs typeface="Times New Roman"/>
              </a:rPr>
              <a:t>asks</a:t>
            </a:r>
            <a:r>
              <a:rPr sz="2900" spc="-105" dirty="0">
                <a:latin typeface="Times New Roman"/>
                <a:cs typeface="Times New Roman"/>
              </a:rPr>
              <a:t> </a:t>
            </a:r>
            <a:r>
              <a:rPr sz="2900" spc="-120" dirty="0">
                <a:latin typeface="Times New Roman"/>
                <a:cs typeface="Times New Roman"/>
              </a:rPr>
              <a:t>for</a:t>
            </a:r>
            <a:r>
              <a:rPr sz="2900" spc="-60" dirty="0">
                <a:latin typeface="Times New Roman"/>
                <a:cs typeface="Times New Roman"/>
              </a:rPr>
              <a:t> </a:t>
            </a:r>
            <a:r>
              <a:rPr sz="2900" spc="-105" dirty="0">
                <a:latin typeface="Times New Roman"/>
                <a:cs typeface="Times New Roman"/>
              </a:rPr>
              <a:t>urgent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spc="-95" dirty="0">
                <a:latin typeface="Times New Roman"/>
                <a:cs typeface="Times New Roman"/>
              </a:rPr>
              <a:t>action</a:t>
            </a:r>
            <a:r>
              <a:rPr sz="2900" spc="120" dirty="0">
                <a:latin typeface="Times New Roman"/>
                <a:cs typeface="Times New Roman"/>
              </a:rPr>
              <a:t> </a:t>
            </a:r>
            <a:r>
              <a:rPr sz="2900" spc="-75" dirty="0">
                <a:latin typeface="Times New Roman"/>
                <a:cs typeface="Times New Roman"/>
              </a:rPr>
              <a:t>or</a:t>
            </a:r>
            <a:r>
              <a:rPr sz="2900" spc="-70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payment.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300" y="2895600"/>
            <a:ext cx="1905000" cy="1917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99400" y="2895600"/>
            <a:ext cx="1676400" cy="1917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85800" y="2895600"/>
            <a:ext cx="1511300" cy="1905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7671" rIns="0" bIns="0" rtlCol="0">
            <a:spAutoFit/>
          </a:bodyPr>
          <a:lstStyle/>
          <a:p>
            <a:pPr marL="4243070">
              <a:lnSpc>
                <a:spcPct val="100000"/>
              </a:lnSpc>
              <a:spcBef>
                <a:spcPts val="130"/>
              </a:spcBef>
            </a:pPr>
            <a:r>
              <a:rPr spc="-90" dirty="0">
                <a:solidFill>
                  <a:srgbClr val="365074"/>
                </a:solidFill>
              </a:rPr>
              <a:t>Your</a:t>
            </a:r>
            <a:r>
              <a:rPr spc="-275" dirty="0">
                <a:solidFill>
                  <a:srgbClr val="365074"/>
                </a:solidFill>
              </a:rPr>
              <a:t> </a:t>
            </a:r>
            <a:r>
              <a:rPr spc="100" dirty="0">
                <a:solidFill>
                  <a:srgbClr val="365275"/>
                </a:solidFill>
              </a:rPr>
              <a:t>Key</a:t>
            </a:r>
            <a:r>
              <a:rPr spc="105" dirty="0">
                <a:solidFill>
                  <a:srgbClr val="365275"/>
                </a:solidFill>
              </a:rPr>
              <a:t> </a:t>
            </a:r>
            <a:r>
              <a:rPr spc="-10" dirty="0"/>
              <a:t>Takeaways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6998" y="5305777"/>
            <a:ext cx="4474845" cy="284670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47650" marR="234950" algn="ctr">
              <a:lnSpc>
                <a:spcPts val="3900"/>
              </a:lnSpc>
              <a:spcBef>
                <a:spcPts val="450"/>
              </a:spcBef>
            </a:pPr>
            <a:r>
              <a:rPr sz="3450" spc="-70" dirty="0">
                <a:solidFill>
                  <a:srgbClr val="1C1C1C"/>
                </a:solidFill>
                <a:latin typeface="Cambria"/>
                <a:cs typeface="Cambria"/>
              </a:rPr>
              <a:t>THE</a:t>
            </a:r>
            <a:r>
              <a:rPr sz="3450" spc="-125" dirty="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sz="3450" spc="-65" dirty="0">
                <a:solidFill>
                  <a:srgbClr val="1A1A1A"/>
                </a:solidFill>
                <a:latin typeface="Cambria"/>
                <a:cs typeface="Cambria"/>
              </a:rPr>
              <a:t>THREAT</a:t>
            </a:r>
            <a:r>
              <a:rPr sz="3450" spc="15" dirty="0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sz="3450" dirty="0">
                <a:solidFill>
                  <a:srgbClr val="1A1A1A"/>
                </a:solidFill>
                <a:latin typeface="Cambria"/>
                <a:cs typeface="Cambria"/>
              </a:rPr>
              <a:t>IS</a:t>
            </a:r>
            <a:r>
              <a:rPr sz="3450" spc="-100" dirty="0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sz="3450" spc="-65" dirty="0">
                <a:solidFill>
                  <a:srgbClr val="181818"/>
                </a:solidFill>
                <a:latin typeface="Cambria"/>
                <a:cs typeface="Cambria"/>
              </a:rPr>
              <a:t>REAL </a:t>
            </a:r>
            <a:r>
              <a:rPr sz="3450" spc="-405" dirty="0">
                <a:solidFill>
                  <a:srgbClr val="1D1D1D"/>
                </a:solidFill>
                <a:latin typeface="Cambria"/>
                <a:cs typeface="Cambria"/>
              </a:rPr>
              <a:t>&amp;</a:t>
            </a:r>
            <a:r>
              <a:rPr sz="3450" spc="100" dirty="0">
                <a:solidFill>
                  <a:srgbClr val="1D1D1D"/>
                </a:solidFill>
                <a:latin typeface="Cambria"/>
                <a:cs typeface="Cambria"/>
              </a:rPr>
              <a:t> </a:t>
            </a:r>
            <a:r>
              <a:rPr sz="3450" spc="-10" dirty="0">
                <a:solidFill>
                  <a:srgbClr val="1D1D1D"/>
                </a:solidFill>
                <a:latin typeface="Cambria"/>
                <a:cs typeface="Cambria"/>
              </a:rPr>
              <a:t>PERSONAL</a:t>
            </a:r>
            <a:endParaRPr sz="3450">
              <a:latin typeface="Cambria"/>
              <a:cs typeface="Cambria"/>
            </a:endParaRPr>
          </a:p>
          <a:p>
            <a:pPr marL="12700" marR="5080" indent="-3810" algn="ctr">
              <a:lnSpc>
                <a:spcPts val="3750"/>
              </a:lnSpc>
              <a:spcBef>
                <a:spcPts val="2910"/>
              </a:spcBef>
            </a:pPr>
            <a:r>
              <a:rPr sz="3200" spc="-145" dirty="0">
                <a:latin typeface="Cambria"/>
                <a:cs typeface="Cambria"/>
              </a:rPr>
              <a:t>Cyberattacks</a:t>
            </a:r>
            <a:r>
              <a:rPr sz="3200" spc="-10" dirty="0">
                <a:latin typeface="Cambria"/>
                <a:cs typeface="Cambria"/>
              </a:rPr>
              <a:t> </a:t>
            </a:r>
            <a:r>
              <a:rPr sz="3200" spc="-160" dirty="0">
                <a:latin typeface="Cambria"/>
                <a:cs typeface="Cambria"/>
              </a:rPr>
              <a:t>start</a:t>
            </a:r>
            <a:r>
              <a:rPr sz="3200" spc="-15" dirty="0">
                <a:latin typeface="Cambria"/>
                <a:cs typeface="Cambria"/>
              </a:rPr>
              <a:t> </a:t>
            </a:r>
            <a:r>
              <a:rPr sz="3200" spc="-20" dirty="0">
                <a:latin typeface="Cambria"/>
                <a:cs typeface="Cambria"/>
              </a:rPr>
              <a:t>with </a:t>
            </a:r>
            <a:r>
              <a:rPr sz="3200" spc="-45" dirty="0">
                <a:latin typeface="Cambria"/>
                <a:cs typeface="Cambria"/>
              </a:rPr>
              <a:t>email,</a:t>
            </a:r>
            <a:r>
              <a:rPr sz="3200" spc="-60" dirty="0">
                <a:latin typeface="Cambria"/>
                <a:cs typeface="Cambria"/>
              </a:rPr>
              <a:t> </a:t>
            </a:r>
            <a:r>
              <a:rPr sz="3200" spc="-165" dirty="0">
                <a:latin typeface="Cambria"/>
                <a:cs typeface="Cambria"/>
              </a:rPr>
              <a:t>and</a:t>
            </a:r>
            <a:r>
              <a:rPr sz="3200" spc="-40" dirty="0">
                <a:latin typeface="Cambria"/>
                <a:cs typeface="Cambria"/>
              </a:rPr>
              <a:t> </a:t>
            </a:r>
            <a:r>
              <a:rPr sz="3200" spc="-165" dirty="0">
                <a:latin typeface="Cambria"/>
                <a:cs typeface="Cambria"/>
              </a:rPr>
              <a:t>they</a:t>
            </a:r>
            <a:r>
              <a:rPr sz="3200" spc="10" dirty="0">
                <a:latin typeface="Cambria"/>
                <a:cs typeface="Cambria"/>
              </a:rPr>
              <a:t> </a:t>
            </a:r>
            <a:r>
              <a:rPr sz="3200" spc="-185" dirty="0">
                <a:latin typeface="Cambria"/>
                <a:cs typeface="Cambria"/>
              </a:rPr>
              <a:t>are</a:t>
            </a:r>
            <a:r>
              <a:rPr sz="3200" spc="10" dirty="0">
                <a:latin typeface="Cambria"/>
                <a:cs typeface="Cambria"/>
              </a:rPr>
              <a:t> </a:t>
            </a:r>
            <a:r>
              <a:rPr sz="3200" spc="-145" dirty="0">
                <a:latin typeface="Cambria"/>
                <a:cs typeface="Cambria"/>
              </a:rPr>
              <a:t>targeted </a:t>
            </a:r>
            <a:r>
              <a:rPr sz="3200" spc="-120" dirty="0">
                <a:latin typeface="Cambria"/>
                <a:cs typeface="Cambria"/>
              </a:rPr>
              <a:t>directly</a:t>
            </a:r>
            <a:r>
              <a:rPr sz="3200" spc="-40" dirty="0">
                <a:latin typeface="Cambria"/>
                <a:cs typeface="Cambria"/>
              </a:rPr>
              <a:t> </a:t>
            </a:r>
            <a:r>
              <a:rPr sz="3200" spc="-210" dirty="0">
                <a:latin typeface="Cambria"/>
                <a:cs typeface="Cambria"/>
              </a:rPr>
              <a:t>at</a:t>
            </a:r>
            <a:r>
              <a:rPr sz="3200" spc="35" dirty="0">
                <a:latin typeface="Cambria"/>
                <a:cs typeface="Cambria"/>
              </a:rPr>
              <a:t> </a:t>
            </a:r>
            <a:r>
              <a:rPr sz="3200" spc="-20" dirty="0">
                <a:latin typeface="Cambria"/>
                <a:cs typeface="Cambria"/>
              </a:rPr>
              <a:t>you.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51439" y="5305777"/>
            <a:ext cx="4337685" cy="3316604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05435" marR="278130" indent="23495" algn="ctr">
              <a:lnSpc>
                <a:spcPts val="3900"/>
              </a:lnSpc>
              <a:spcBef>
                <a:spcPts val="450"/>
              </a:spcBef>
              <a:tabLst>
                <a:tab pos="2749550" algn="l"/>
              </a:tabLst>
            </a:pPr>
            <a:r>
              <a:rPr sz="3450" spc="-10" dirty="0">
                <a:solidFill>
                  <a:srgbClr val="161616"/>
                </a:solidFill>
                <a:latin typeface="Cambria"/>
                <a:cs typeface="Cambria"/>
              </a:rPr>
              <a:t>ATTACKERS</a:t>
            </a:r>
            <a:r>
              <a:rPr sz="3450" dirty="0">
                <a:solidFill>
                  <a:srgbClr val="161616"/>
                </a:solidFill>
                <a:latin typeface="Cambria"/>
                <a:cs typeface="Cambria"/>
              </a:rPr>
              <a:t>	</a:t>
            </a:r>
            <a:r>
              <a:rPr sz="3450" spc="-25" dirty="0">
                <a:solidFill>
                  <a:srgbClr val="1F1F1F"/>
                </a:solidFill>
                <a:latin typeface="Cambria"/>
                <a:cs typeface="Cambria"/>
              </a:rPr>
              <a:t>USE </a:t>
            </a:r>
            <a:r>
              <a:rPr sz="3450" spc="70" dirty="0">
                <a:solidFill>
                  <a:srgbClr val="181818"/>
                </a:solidFill>
                <a:latin typeface="Cambria"/>
                <a:cs typeface="Cambria"/>
              </a:rPr>
              <a:t>PSYCHOLOGY,</a:t>
            </a:r>
            <a:r>
              <a:rPr sz="3450" spc="190" dirty="0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sz="3450" spc="-25" dirty="0">
                <a:solidFill>
                  <a:srgbClr val="1F1F1F"/>
                </a:solidFill>
                <a:latin typeface="Cambria"/>
                <a:cs typeface="Cambria"/>
              </a:rPr>
              <a:t>NOT </a:t>
            </a:r>
            <a:r>
              <a:rPr sz="3300" spc="295" dirty="0">
                <a:solidFill>
                  <a:srgbClr val="1A1A1A"/>
                </a:solidFill>
                <a:latin typeface="Cambria"/>
                <a:cs typeface="Cambria"/>
              </a:rPr>
              <a:t>JUST</a:t>
            </a:r>
            <a:r>
              <a:rPr sz="3300" spc="-20" dirty="0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sz="3300" spc="114" dirty="0">
                <a:solidFill>
                  <a:srgbClr val="232323"/>
                </a:solidFill>
                <a:latin typeface="Cambria"/>
                <a:cs typeface="Cambria"/>
              </a:rPr>
              <a:t>CODE</a:t>
            </a:r>
            <a:endParaRPr sz="3300">
              <a:latin typeface="Cambria"/>
              <a:cs typeface="Cambria"/>
            </a:endParaRPr>
          </a:p>
          <a:p>
            <a:pPr marL="12700" marR="5080" indent="18415" algn="ctr">
              <a:lnSpc>
                <a:spcPct val="97000"/>
              </a:lnSpc>
              <a:spcBef>
                <a:spcPts val="2685"/>
              </a:spcBef>
            </a:pPr>
            <a:r>
              <a:rPr sz="3200" spc="-130" dirty="0">
                <a:latin typeface="Cambria"/>
                <a:cs typeface="Cambria"/>
              </a:rPr>
              <a:t>Recognize</a:t>
            </a:r>
            <a:r>
              <a:rPr sz="3200" spc="45" dirty="0">
                <a:latin typeface="Cambria"/>
                <a:cs typeface="Cambria"/>
              </a:rPr>
              <a:t> </a:t>
            </a:r>
            <a:r>
              <a:rPr sz="3200" spc="-130" dirty="0">
                <a:latin typeface="Cambria"/>
                <a:cs typeface="Cambria"/>
              </a:rPr>
              <a:t>the</a:t>
            </a:r>
            <a:r>
              <a:rPr sz="3200" spc="-95" dirty="0">
                <a:latin typeface="Cambria"/>
                <a:cs typeface="Cambria"/>
              </a:rPr>
              <a:t> </a:t>
            </a:r>
            <a:r>
              <a:rPr sz="3200" spc="-145" dirty="0">
                <a:latin typeface="Cambria"/>
                <a:cs typeface="Cambria"/>
              </a:rPr>
              <a:t>triggers</a:t>
            </a:r>
            <a:r>
              <a:rPr sz="3200" spc="20" dirty="0">
                <a:latin typeface="Cambria"/>
                <a:cs typeface="Cambria"/>
              </a:rPr>
              <a:t> </a:t>
            </a:r>
            <a:r>
              <a:rPr sz="3200" spc="-25" dirty="0">
                <a:latin typeface="Cambria"/>
                <a:cs typeface="Cambria"/>
              </a:rPr>
              <a:t>of </a:t>
            </a:r>
            <a:r>
              <a:rPr sz="3200" spc="-130" dirty="0">
                <a:latin typeface="Cambria"/>
                <a:cs typeface="Cambria"/>
              </a:rPr>
              <a:t>urgency,</a:t>
            </a:r>
            <a:r>
              <a:rPr sz="3200" spc="-45" dirty="0">
                <a:latin typeface="Cambria"/>
                <a:cs typeface="Cambria"/>
              </a:rPr>
              <a:t> </a:t>
            </a:r>
            <a:r>
              <a:rPr sz="3200" spc="-100" dirty="0">
                <a:latin typeface="Cambria"/>
                <a:cs typeface="Cambria"/>
              </a:rPr>
              <a:t>fear,</a:t>
            </a:r>
            <a:r>
              <a:rPr sz="3200" spc="-10" dirty="0">
                <a:latin typeface="Cambria"/>
                <a:cs typeface="Cambria"/>
              </a:rPr>
              <a:t> </a:t>
            </a:r>
            <a:r>
              <a:rPr sz="3200" spc="-160" dirty="0">
                <a:latin typeface="Cambria"/>
                <a:cs typeface="Cambria"/>
              </a:rPr>
              <a:t>and</a:t>
            </a:r>
            <a:r>
              <a:rPr sz="3200" spc="-45" dirty="0">
                <a:latin typeface="Cambria"/>
                <a:cs typeface="Cambria"/>
              </a:rPr>
              <a:t> </a:t>
            </a:r>
            <a:r>
              <a:rPr sz="3200" spc="-125" dirty="0">
                <a:latin typeface="Cambria"/>
                <a:cs typeface="Cambria"/>
              </a:rPr>
              <a:t>curiosity </a:t>
            </a:r>
            <a:r>
              <a:rPr sz="3200" spc="-190" dirty="0">
                <a:latin typeface="Cambria"/>
                <a:cs typeface="Cambria"/>
              </a:rPr>
              <a:t>to</a:t>
            </a:r>
            <a:r>
              <a:rPr sz="3200" spc="-35" dirty="0">
                <a:latin typeface="Cambria"/>
                <a:cs typeface="Cambria"/>
              </a:rPr>
              <a:t> </a:t>
            </a:r>
            <a:r>
              <a:rPr sz="3200" spc="-185" dirty="0">
                <a:latin typeface="Cambria"/>
                <a:cs typeface="Cambria"/>
              </a:rPr>
              <a:t>spot</a:t>
            </a:r>
            <a:r>
              <a:rPr sz="3200" spc="15" dirty="0">
                <a:latin typeface="Cambria"/>
                <a:cs typeface="Cambria"/>
              </a:rPr>
              <a:t> </a:t>
            </a:r>
            <a:r>
              <a:rPr sz="3200" spc="-140" dirty="0">
                <a:latin typeface="Cambria"/>
                <a:cs typeface="Cambria"/>
              </a:rPr>
              <a:t>their</a:t>
            </a:r>
            <a:r>
              <a:rPr sz="3200" spc="20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tactics.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29071" y="5305777"/>
            <a:ext cx="4603750" cy="3316604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95250" marR="112395" indent="31115" algn="ctr">
              <a:lnSpc>
                <a:spcPts val="3900"/>
              </a:lnSpc>
              <a:spcBef>
                <a:spcPts val="450"/>
              </a:spcBef>
            </a:pPr>
            <a:r>
              <a:rPr sz="3450" dirty="0">
                <a:solidFill>
                  <a:srgbClr val="1D1D1D"/>
                </a:solidFill>
                <a:latin typeface="Cambria"/>
                <a:cs typeface="Cambria"/>
              </a:rPr>
              <a:t>YOU</a:t>
            </a:r>
            <a:r>
              <a:rPr sz="3450" spc="20" dirty="0">
                <a:solidFill>
                  <a:srgbClr val="1D1D1D"/>
                </a:solidFill>
                <a:latin typeface="Cambria"/>
                <a:cs typeface="Cambria"/>
              </a:rPr>
              <a:t> </a:t>
            </a:r>
            <a:r>
              <a:rPr sz="3450" dirty="0">
                <a:solidFill>
                  <a:srgbClr val="1F1F1F"/>
                </a:solidFill>
                <a:latin typeface="Cambria"/>
                <a:cs typeface="Cambria"/>
              </a:rPr>
              <a:t>HAVE</a:t>
            </a:r>
            <a:r>
              <a:rPr sz="3450" spc="-40" dirty="0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sz="3450" dirty="0">
                <a:solidFill>
                  <a:srgbClr val="1F1F1F"/>
                </a:solidFill>
                <a:latin typeface="Cambria"/>
                <a:cs typeface="Cambria"/>
              </a:rPr>
              <a:t>A</a:t>
            </a:r>
            <a:r>
              <a:rPr sz="3450" spc="-45" dirty="0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sz="3450" spc="-10" dirty="0">
                <a:solidFill>
                  <a:srgbClr val="181818"/>
                </a:solidFill>
                <a:latin typeface="Cambria"/>
                <a:cs typeface="Cambria"/>
              </a:rPr>
              <a:t>SIMPLE, </a:t>
            </a:r>
            <a:r>
              <a:rPr sz="3450" spc="-55" dirty="0">
                <a:solidFill>
                  <a:srgbClr val="1A1A1A"/>
                </a:solidFill>
                <a:latin typeface="Cambria"/>
                <a:cs typeface="Cambria"/>
              </a:rPr>
              <a:t>POWERFUL</a:t>
            </a:r>
            <a:r>
              <a:rPr sz="3450" spc="-10" dirty="0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sz="3450" spc="-10" dirty="0">
                <a:solidFill>
                  <a:srgbClr val="1C1C1C"/>
                </a:solidFill>
                <a:latin typeface="Cambria"/>
                <a:cs typeface="Cambria"/>
              </a:rPr>
              <a:t>PLAYBOOK</a:t>
            </a:r>
            <a:endParaRPr sz="3450">
              <a:latin typeface="Cambria"/>
              <a:cs typeface="Cambria"/>
            </a:endParaRPr>
          </a:p>
          <a:p>
            <a:pPr marL="12700" marR="5080" indent="12700" algn="ctr">
              <a:lnSpc>
                <a:spcPct val="97200"/>
              </a:lnSpc>
              <a:spcBef>
                <a:spcPts val="2830"/>
              </a:spcBef>
            </a:pPr>
            <a:r>
              <a:rPr sz="3200" spc="-155" dirty="0">
                <a:latin typeface="Cambria"/>
                <a:cs typeface="Cambria"/>
              </a:rPr>
              <a:t>Use</a:t>
            </a:r>
            <a:r>
              <a:rPr sz="3200" spc="-20" dirty="0">
                <a:latin typeface="Cambria"/>
                <a:cs typeface="Cambria"/>
              </a:rPr>
              <a:t> </a:t>
            </a:r>
            <a:r>
              <a:rPr sz="3200" spc="-160" dirty="0">
                <a:latin typeface="Cambria"/>
                <a:cs typeface="Cambria"/>
              </a:rPr>
              <a:t>the</a:t>
            </a:r>
            <a:r>
              <a:rPr sz="3200" spc="-85" dirty="0">
                <a:latin typeface="Cambria"/>
                <a:cs typeface="Cambria"/>
              </a:rPr>
              <a:t> </a:t>
            </a:r>
            <a:r>
              <a:rPr sz="3200" spc="-170" dirty="0">
                <a:latin typeface="Cambria"/>
                <a:cs typeface="Cambria"/>
              </a:rPr>
              <a:t>5-Second</a:t>
            </a:r>
            <a:r>
              <a:rPr sz="3200" spc="-5" dirty="0">
                <a:latin typeface="Cambria"/>
                <a:cs typeface="Cambria"/>
              </a:rPr>
              <a:t> </a:t>
            </a:r>
            <a:r>
              <a:rPr sz="3200" spc="-65" dirty="0">
                <a:latin typeface="Cambria"/>
                <a:cs typeface="Cambria"/>
              </a:rPr>
              <a:t>Scan</a:t>
            </a:r>
            <a:r>
              <a:rPr sz="3200" spc="-40" dirty="0">
                <a:latin typeface="Cambria"/>
                <a:cs typeface="Cambria"/>
              </a:rPr>
              <a:t> </a:t>
            </a:r>
            <a:r>
              <a:rPr sz="3200" spc="-25" dirty="0">
                <a:latin typeface="Cambria"/>
                <a:cs typeface="Cambria"/>
              </a:rPr>
              <a:t>and </a:t>
            </a:r>
            <a:r>
              <a:rPr sz="3200" spc="-160" dirty="0">
                <a:latin typeface="Cambria"/>
                <a:cs typeface="Cambria"/>
              </a:rPr>
              <a:t>the</a:t>
            </a:r>
            <a:r>
              <a:rPr sz="3200" spc="-75" dirty="0">
                <a:latin typeface="Cambria"/>
                <a:cs typeface="Cambria"/>
              </a:rPr>
              <a:t> </a:t>
            </a:r>
            <a:r>
              <a:rPr sz="3200" spc="-210" dirty="0">
                <a:latin typeface="Cambria"/>
                <a:cs typeface="Cambria"/>
              </a:rPr>
              <a:t>3-</a:t>
            </a:r>
            <a:r>
              <a:rPr sz="3200" spc="-215" dirty="0">
                <a:latin typeface="Cambria"/>
                <a:cs typeface="Cambria"/>
              </a:rPr>
              <a:t>Step</a:t>
            </a:r>
            <a:r>
              <a:rPr sz="3200" spc="40" dirty="0">
                <a:latin typeface="Cambria"/>
                <a:cs typeface="Cambria"/>
              </a:rPr>
              <a:t> </a:t>
            </a:r>
            <a:r>
              <a:rPr sz="3200" spc="-150" dirty="0">
                <a:latin typeface="Cambria"/>
                <a:cs typeface="Cambria"/>
              </a:rPr>
              <a:t>Protocol</a:t>
            </a:r>
            <a:r>
              <a:rPr sz="3200" spc="70" dirty="0">
                <a:latin typeface="Cambria"/>
                <a:cs typeface="Cambria"/>
              </a:rPr>
              <a:t> </a:t>
            </a:r>
            <a:r>
              <a:rPr sz="3200" spc="-135" dirty="0">
                <a:latin typeface="Cambria"/>
                <a:cs typeface="Cambria"/>
              </a:rPr>
              <a:t>to</a:t>
            </a:r>
            <a:r>
              <a:rPr sz="3200" spc="-65" dirty="0">
                <a:latin typeface="Cambria"/>
                <a:cs typeface="Cambria"/>
              </a:rPr>
              <a:t> </a:t>
            </a:r>
            <a:r>
              <a:rPr sz="3200" spc="-114" dirty="0">
                <a:latin typeface="Cambria"/>
                <a:cs typeface="Cambria"/>
              </a:rPr>
              <a:t>defend </a:t>
            </a:r>
            <a:r>
              <a:rPr sz="3200" spc="-135" dirty="0">
                <a:latin typeface="Cambria"/>
                <a:cs typeface="Cambria"/>
              </a:rPr>
              <a:t>yourself</a:t>
            </a:r>
            <a:r>
              <a:rPr sz="3200" spc="10" dirty="0">
                <a:latin typeface="Cambria"/>
                <a:cs typeface="Cambria"/>
              </a:rPr>
              <a:t> </a:t>
            </a:r>
            <a:r>
              <a:rPr sz="3200" spc="-165" dirty="0">
                <a:latin typeface="Cambria"/>
                <a:cs typeface="Cambria"/>
              </a:rPr>
              <a:t>and</a:t>
            </a:r>
            <a:r>
              <a:rPr sz="3200" spc="-40" dirty="0">
                <a:latin typeface="Cambria"/>
                <a:cs typeface="Cambria"/>
              </a:rPr>
              <a:t> </a:t>
            </a:r>
            <a:r>
              <a:rPr sz="3200" spc="-140" dirty="0">
                <a:latin typeface="Cambria"/>
                <a:cs typeface="Cambria"/>
              </a:rPr>
              <a:t>the</a:t>
            </a:r>
            <a:r>
              <a:rPr sz="3200" spc="-25" dirty="0">
                <a:latin typeface="Cambria"/>
                <a:cs typeface="Cambria"/>
              </a:rPr>
              <a:t> </a:t>
            </a:r>
            <a:r>
              <a:rPr sz="3200" spc="-45" dirty="0">
                <a:latin typeface="Cambria"/>
                <a:cs typeface="Cambria"/>
              </a:rPr>
              <a:t>strootium </a:t>
            </a:r>
            <a:r>
              <a:rPr sz="3200" spc="-135" dirty="0">
                <a:latin typeface="Cambria"/>
                <a:cs typeface="Cambria"/>
              </a:rPr>
              <a:t>yourself</a:t>
            </a:r>
            <a:r>
              <a:rPr sz="3200" spc="5" dirty="0">
                <a:latin typeface="Cambria"/>
                <a:cs typeface="Cambria"/>
              </a:rPr>
              <a:t> </a:t>
            </a:r>
            <a:r>
              <a:rPr sz="3200" spc="-170" dirty="0">
                <a:latin typeface="Cambria"/>
                <a:cs typeface="Cambria"/>
              </a:rPr>
              <a:t>and</a:t>
            </a:r>
            <a:r>
              <a:rPr sz="3200" spc="-5" dirty="0">
                <a:latin typeface="Cambria"/>
                <a:cs typeface="Cambria"/>
              </a:rPr>
              <a:t> </a:t>
            </a:r>
            <a:r>
              <a:rPr sz="3200" spc="-155" dirty="0">
                <a:latin typeface="Cambria"/>
                <a:cs typeface="Cambria"/>
              </a:rPr>
              <a:t>the</a:t>
            </a:r>
            <a:r>
              <a:rPr sz="3200" spc="-20" dirty="0">
                <a:latin typeface="Cambria"/>
                <a:cs typeface="Cambria"/>
              </a:rPr>
              <a:t> </a:t>
            </a:r>
            <a:r>
              <a:rPr sz="3200" spc="-25" dirty="0">
                <a:latin typeface="Cambria"/>
                <a:cs typeface="Cambria"/>
              </a:rPr>
              <a:t>company.</a:t>
            </a:r>
            <a:endParaRPr sz="3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93377" y="3124200"/>
            <a:ext cx="1234440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 smtClean="0">
                <a:solidFill>
                  <a:schemeClr val="tx1"/>
                </a:solidFill>
              </a:rPr>
              <a:t>Phishing Awareness </a:t>
            </a:r>
            <a:r>
              <a:rPr lang="en-US" sz="4000" dirty="0" smtClean="0">
                <a:solidFill>
                  <a:schemeClr val="tx1"/>
                </a:solidFill>
              </a:rPr>
              <a:t>is </a:t>
            </a:r>
            <a:r>
              <a:rPr lang="en-US" sz="4000" dirty="0">
                <a:solidFill>
                  <a:schemeClr val="tx1"/>
                </a:solidFill>
              </a:rPr>
              <a:t>the first line of defense against </a:t>
            </a:r>
            <a:r>
              <a:rPr lang="en-US" sz="4000" b="1" dirty="0" smtClean="0">
                <a:solidFill>
                  <a:schemeClr val="tx1"/>
                </a:solidFill>
              </a:rPr>
              <a:t>Cyber Attacks</a:t>
            </a:r>
            <a:r>
              <a:rPr lang="en-US" sz="4000" dirty="0" smtClean="0">
                <a:solidFill>
                  <a:schemeClr val="tx1"/>
                </a:solidFill>
              </a:rPr>
              <a:t>.</a:t>
            </a:r>
            <a:r>
              <a:rPr lang="en-US" sz="4000" dirty="0">
                <a:solidFill>
                  <a:schemeClr val="tx1"/>
                </a:solidFill>
              </a:rPr>
              <a:t/>
            </a:r>
            <a:br>
              <a:rPr lang="en-US" sz="4000" dirty="0">
                <a:solidFill>
                  <a:schemeClr val="tx1"/>
                </a:solidFill>
              </a:rPr>
            </a:br>
            <a:r>
              <a:rPr lang="en-US" sz="4000" dirty="0">
                <a:solidFill>
                  <a:schemeClr val="tx1"/>
                </a:solidFill>
              </a:rPr>
              <a:t>Educated users can prevent data theft and financial loss.</a:t>
            </a:r>
            <a:endParaRPr sz="400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82540" y="5562600"/>
            <a:ext cx="7966075" cy="695062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37465" algn="ctr">
              <a:lnSpc>
                <a:spcPct val="100000"/>
              </a:lnSpc>
              <a:spcBef>
                <a:spcPts val="910"/>
              </a:spcBef>
            </a:pPr>
            <a:r>
              <a:rPr sz="3200" b="1" dirty="0">
                <a:solidFill>
                  <a:srgbClr val="1F1F1F"/>
                </a:solidFill>
                <a:latin typeface="Arial MT"/>
                <a:cs typeface="Arial MT"/>
              </a:rPr>
              <a:t>Stay Alert. Stay Secure.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19675" y="8050389"/>
            <a:ext cx="8028940" cy="32425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31750" algn="ctr">
              <a:lnSpc>
                <a:spcPts val="2810"/>
              </a:lnSpc>
              <a:spcBef>
                <a:spcPts val="110"/>
              </a:spcBef>
            </a:pPr>
            <a:r>
              <a:rPr sz="1000" spc="-10" dirty="0" smtClean="0">
                <a:latin typeface="Cambria"/>
                <a:cs typeface="Cambria"/>
                <a:hlinkClick r:id="rId2"/>
              </a:rPr>
              <a:t>.</a:t>
            </a:r>
            <a:endParaRPr sz="1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895</Words>
  <Application>Microsoft Office PowerPoint</Application>
  <PresentationFormat>Custom</PresentationFormat>
  <Paragraphs>156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Phishing Awareness</vt:lpstr>
      <vt:lpstr>What is Phishing?</vt:lpstr>
      <vt:lpstr>You Are the Target</vt:lpstr>
      <vt:lpstr>The Attacker's Primary Weapon: Social Engineering</vt:lpstr>
      <vt:lpstr>The Five Triggers They Exploit</vt:lpstr>
      <vt:lpstr>PowerPoint Presentation</vt:lpstr>
      <vt:lpstr>Spot the Fake: Legitimate vs. Phishing Website</vt:lpstr>
      <vt:lpstr>Technology is Shield. You Are the Guardian.</vt:lpstr>
      <vt:lpstr>Your Defence Playbook: The 5-Second Scan</vt:lpstr>
      <vt:lpstr>Trust, but Verify: Hover to Discover</vt:lpstr>
      <vt:lpstr>When in Doubt, Follow the 3-Step Protocol</vt:lpstr>
      <vt:lpstr>Spot the Phish: Challenge</vt:lpstr>
      <vt:lpstr>Challenge</vt:lpstr>
      <vt:lpstr>Your Key Takeaways</vt:lpstr>
      <vt:lpstr>Phishing Awareness is the first line of defense against Cyber Attacks. Educated users can prevent data theft and financial loss.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SHIELDING THE INBOX</dc:title>
  <cp:lastModifiedBy>DELL 3400</cp:lastModifiedBy>
  <cp:revision>8</cp:revision>
  <dcterms:created xsi:type="dcterms:W3CDTF">2026-01-05T13:44:19Z</dcterms:created>
  <dcterms:modified xsi:type="dcterms:W3CDTF">2026-01-08T05:21:16Z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2026-01-05T00:00:00Z</vt:filetime>
  </property>
  <property fmtid="{D5CDD505-2E9C-101B-9397-08002B2CF9AE}" pid="3" name="LastSaved">
    <vt:filetime>2026-01-05T00:00:00Z</vt:filetime>
  </property>
</Properties>
</file>